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rawings/drawing1.xml" ContentType="application/vnd.openxmlformats-officedocument.drawingml.chartshapes+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omments/modernComment_10B_12D92276.xml" ContentType="application/vnd.ms-powerpoint.comments+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7"/>
  </p:notesMasterIdLst>
  <p:sldIdLst>
    <p:sldId id="256" r:id="rId5"/>
    <p:sldId id="259" r:id="rId6"/>
    <p:sldId id="260" r:id="rId7"/>
    <p:sldId id="276" r:id="rId8"/>
    <p:sldId id="263" r:id="rId9"/>
    <p:sldId id="266" r:id="rId10"/>
    <p:sldId id="277" r:id="rId11"/>
    <p:sldId id="278" r:id="rId12"/>
    <p:sldId id="267" r:id="rId13"/>
    <p:sldId id="279" r:id="rId14"/>
    <p:sldId id="269" r:id="rId15"/>
    <p:sldId id="264"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32120F54-98A2-AAE5-68E0-168B9D44ED78}" name="LEE Sae Lin" initials="LSL" userId="S::saelin.lee.2025@mitb.smu.edu.sg::def6d12e-a327-4a0e-9366-94edecefb89d" providerId="AD"/>
  <p188:author id="{B98E695A-5499-708A-8C32-4E9E23718F2D}" name="Emily PHAM Vinh Tan" initials="ET" userId="S::vt.pham.2024@mitb.smu.edu.sg::51382fb8-3463-4d5c-ac9b-0664d9fad398" providerId="AD"/>
  <p188:author id="{08D26E73-8D60-7FB4-25FB-1586B89879F7}" name="Aditya VIJAY" initials="AV" userId="S::aditya.v.2024@mitb.smu.edu.sg::155a0835-c87d-4c71-9ba2-2446ada3a663" providerId="AD"/>
  <p188:author id="{B79364B8-4927-21AD-1363-30D4FAC71080}" name="ANG Wei Lin" initials="AWL" userId="S::weilin.ang.2022@scis.smu.edu.sg::811eb544-1086-4d9c-8c1e-c8abacd3d8ec"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292929"/>
    <a:srgbClr val="4D4D4D"/>
    <a:srgbClr val="2EBFA5"/>
    <a:srgbClr val="F8F9FA"/>
    <a:srgbClr val="E9B74C"/>
    <a:srgbClr val="111111"/>
    <a:srgbClr val="156082"/>
    <a:srgbClr val="10B981"/>
    <a:srgbClr val="BC7308"/>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932DC77-338F-8FBF-90DF-6C5778691668}" v="670" dt="2026-05-22T07:14:32.356"/>
    <p1510:client id="{0EFD9ACF-3DF0-2D92-5525-3F0D123CF0E0}" v="4" dt="2026-05-22T07:06:59.763"/>
    <p1510:client id="{0F64C70D-37DE-0983-7BDC-762B1BF0DFDA}" v="12" dt="2026-05-22T00:43:07.369"/>
    <p1510:client id="{112CC54C-16C6-D88E-6134-EBBF13CCEE58}" v="424" dt="2026-05-22T07:32:33.157"/>
    <p1510:client id="{12FFB498-D0AB-8B4A-A2A3-E25992E1BF0E}" v="614" dt="2026-05-21T14:12:33.636"/>
    <p1510:client id="{1BE1AAE8-4256-EBF9-35C8-3ED69CE450CA}" v="110" dt="2026-05-21T11:50:05.982"/>
    <p1510:client id="{1E890F31-C330-4503-8B01-051C013D07F5}" v="496" dt="2026-05-21T14:15:52.939"/>
    <p1510:client id="{21859BBA-58C7-47CA-A393-85D25D2F8969}" v="485" dt="2026-05-22T06:39:53.119"/>
    <p1510:client id="{2E71BF65-1831-9EAE-D1CE-85FB757E3849}" v="1962" dt="2026-05-21T17:00:43.843"/>
    <p1510:client id="{4AD6DE9F-E1AE-533A-BAF2-C6673971BD0E}" v="322" dt="2026-05-22T05:44:59.308"/>
    <p1510:client id="{6C0D3977-6516-E14D-3B5B-0A9F68974D13}" v="3081" dt="2026-05-22T07:32:05.832"/>
    <p1510:client id="{6E5BB3D7-400B-F3CF-8801-2CF2B099B093}" v="26" dt="2026-05-21T12:51:04.241"/>
    <p1510:client id="{8A05C8C7-F2D3-DBB2-E517-B6646D76D50F}" v="1" dt="2026-05-21T17:27:51.220"/>
    <p1510:client id="{9F411E47-49A2-CC79-5CAD-B157D45905C2}" v="5" dt="2026-05-22T02:55:24.152"/>
    <p1510:client id="{B5DE5DBD-3A70-2FB3-D703-B20AE51CADBC}" v="118" dt="2026-05-22T02:37:39.579"/>
    <p1510:client id="{BA065B9A-A708-2BC3-777D-3A6A47824785}" v="308" dt="2026-05-21T20:04:58.615"/>
    <p1510:client id="{D50F4B4D-662E-6B31-64C8-AEE002ECFAEC}" v="5" dt="2026-05-22T04:30:59.979"/>
    <p1510:client id="{F7F1ED92-87AC-4529-D1AE-C172967429AA}" v="11" dt="2026-05-22T01:27:53.95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8/10/relationships/authors" Target="authors.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charts/_rels/chart1.xml.rels><?xml version="1.0" encoding="UTF-8" standalone="yes"?>
<Relationships xmlns="http://schemas.openxmlformats.org/package/2006/relationships"><Relationship Id="rId3" Type="http://schemas.openxmlformats.org/officeDocument/2006/relationships/oleObject" Target="https://smu.sharepoint.com/teams/ISSS603-AppliedDSCustomerInsights/Shared%20Documents/General/Midterm%20submission/LushProtein_Midterm%20presentation_ColumnClustered.xlsx" TargetMode="Externa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chartUserShapes" Target="../drawings/drawing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_114_BFFE6F75.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1" i="0" u="none" strike="noStrike" kern="1200" spc="0" baseline="0">
                <a:solidFill>
                  <a:schemeClr val="tx1">
                    <a:lumMod val="65000"/>
                    <a:lumOff val="35000"/>
                  </a:schemeClr>
                </a:solidFill>
                <a:latin typeface="+mn-lt"/>
                <a:ea typeface="+mn-ea"/>
                <a:cs typeface="+mn-cs"/>
              </a:defRPr>
            </a:pPr>
            <a:r>
              <a:rPr lang="en-US" sz="1200" b="1"/>
              <a:t>Revenue</a:t>
            </a:r>
            <a:r>
              <a:rPr lang="en-US" sz="1200" b="1" baseline="0"/>
              <a:t> &amp; Discounts Given</a:t>
            </a:r>
            <a:endParaRPr lang="en-SG" sz="1200" b="1"/>
          </a:p>
        </c:rich>
      </c:tx>
      <c:overlay val="0"/>
      <c:spPr>
        <a:noFill/>
        <a:ln>
          <a:noFill/>
        </a:ln>
        <a:effectLst/>
      </c:spPr>
      <c:txPr>
        <a:bodyPr rot="0" spcFirstLastPara="1" vertOverflow="ellipsis" vert="horz" wrap="square" anchor="ctr" anchorCtr="1"/>
        <a:lstStyle/>
        <a:p>
          <a:pPr>
            <a:defRPr sz="1200" b="1" i="0" u="none" strike="noStrike" kern="1200" spc="0" baseline="0">
              <a:solidFill>
                <a:schemeClr val="tx1">
                  <a:lumMod val="65000"/>
                  <a:lumOff val="35000"/>
                </a:schemeClr>
              </a:solidFill>
              <a:latin typeface="+mn-lt"/>
              <a:ea typeface="+mn-ea"/>
              <a:cs typeface="+mn-cs"/>
            </a:defRPr>
          </a:pPr>
          <a:endParaRPr lang="en-SG"/>
        </a:p>
      </c:txPr>
    </c:title>
    <c:autoTitleDeleted val="0"/>
    <c:plotArea>
      <c:layout>
        <c:manualLayout>
          <c:layoutTarget val="inner"/>
          <c:xMode val="edge"/>
          <c:yMode val="edge"/>
          <c:x val="0.13204576771653542"/>
          <c:y val="0.12892814508446782"/>
          <c:w val="0.78305462598425202"/>
          <c:h val="0.61740491649676987"/>
        </c:manualLayout>
      </c:layout>
      <c:barChart>
        <c:barDir val="col"/>
        <c:grouping val="clustered"/>
        <c:varyColors val="0"/>
        <c:ser>
          <c:idx val="0"/>
          <c:order val="0"/>
          <c:tx>
            <c:strRef>
              <c:f>Sheet1!$B$1</c:f>
              <c:strCache>
                <c:ptCount val="1"/>
                <c:pt idx="0">
                  <c:v>Revenue</c:v>
                </c:pt>
              </c:strCache>
            </c:strRef>
          </c:tx>
          <c:spPr>
            <a:solidFill>
              <a:schemeClr val="accent1"/>
            </a:solidFill>
            <a:ln>
              <a:noFill/>
            </a:ln>
            <a:effectLst/>
          </c:spPr>
          <c:invertIfNegative val="0"/>
          <c:cat>
            <c:numRef>
              <c:f>Sheet1!$A$2:$A$7</c:f>
              <c:numCache>
                <c:formatCode>General</c:formatCode>
                <c:ptCount val="6"/>
                <c:pt idx="0">
                  <c:v>2020</c:v>
                </c:pt>
                <c:pt idx="1">
                  <c:v>2021</c:v>
                </c:pt>
                <c:pt idx="2">
                  <c:v>2022</c:v>
                </c:pt>
                <c:pt idx="3">
                  <c:v>2023</c:v>
                </c:pt>
                <c:pt idx="4">
                  <c:v>2024</c:v>
                </c:pt>
                <c:pt idx="5">
                  <c:v>2025</c:v>
                </c:pt>
              </c:numCache>
            </c:numRef>
          </c:cat>
          <c:val>
            <c:numRef>
              <c:f>Sheet1!$B$2:$B$7</c:f>
              <c:numCache>
                <c:formatCode>General</c:formatCode>
                <c:ptCount val="6"/>
                <c:pt idx="0">
                  <c:v>456952</c:v>
                </c:pt>
                <c:pt idx="1">
                  <c:v>847930</c:v>
                </c:pt>
                <c:pt idx="2">
                  <c:v>747587</c:v>
                </c:pt>
                <c:pt idx="3">
                  <c:v>182038</c:v>
                </c:pt>
                <c:pt idx="4">
                  <c:v>284971</c:v>
                </c:pt>
                <c:pt idx="5">
                  <c:v>409152</c:v>
                </c:pt>
              </c:numCache>
            </c:numRef>
          </c:val>
          <c:extLst>
            <c:ext xmlns:c16="http://schemas.microsoft.com/office/drawing/2014/chart" uri="{C3380CC4-5D6E-409C-BE32-E72D297353CC}">
              <c16:uniqueId val="{00000000-D7E8-4042-8225-9521843F4AEE}"/>
            </c:ext>
          </c:extLst>
        </c:ser>
        <c:ser>
          <c:idx val="1"/>
          <c:order val="1"/>
          <c:tx>
            <c:strRef>
              <c:f>Sheet1!$C$1</c:f>
              <c:strCache>
                <c:ptCount val="1"/>
                <c:pt idx="0">
                  <c:v>Discounts Given</c:v>
                </c:pt>
              </c:strCache>
            </c:strRef>
          </c:tx>
          <c:spPr>
            <a:solidFill>
              <a:srgbClr val="FF0000"/>
            </a:solidFill>
            <a:ln>
              <a:noFill/>
            </a:ln>
            <a:effectLst/>
          </c:spPr>
          <c:invertIfNegative val="0"/>
          <c:cat>
            <c:numRef>
              <c:f>Sheet1!$A$2:$A$7</c:f>
              <c:numCache>
                <c:formatCode>General</c:formatCode>
                <c:ptCount val="6"/>
                <c:pt idx="0">
                  <c:v>2020</c:v>
                </c:pt>
                <c:pt idx="1">
                  <c:v>2021</c:v>
                </c:pt>
                <c:pt idx="2">
                  <c:v>2022</c:v>
                </c:pt>
                <c:pt idx="3">
                  <c:v>2023</c:v>
                </c:pt>
                <c:pt idx="4">
                  <c:v>2024</c:v>
                </c:pt>
                <c:pt idx="5">
                  <c:v>2025</c:v>
                </c:pt>
              </c:numCache>
            </c:numRef>
          </c:cat>
          <c:val>
            <c:numRef>
              <c:f>Sheet1!$C$2:$C$7</c:f>
              <c:numCache>
                <c:formatCode>General</c:formatCode>
                <c:ptCount val="6"/>
                <c:pt idx="0">
                  <c:v>0</c:v>
                </c:pt>
                <c:pt idx="1">
                  <c:v>0</c:v>
                </c:pt>
                <c:pt idx="2">
                  <c:v>30073</c:v>
                </c:pt>
                <c:pt idx="3">
                  <c:v>32419</c:v>
                </c:pt>
                <c:pt idx="4">
                  <c:v>127408</c:v>
                </c:pt>
                <c:pt idx="5">
                  <c:v>222033</c:v>
                </c:pt>
              </c:numCache>
            </c:numRef>
          </c:val>
          <c:extLst>
            <c:ext xmlns:c16="http://schemas.microsoft.com/office/drawing/2014/chart" uri="{C3380CC4-5D6E-409C-BE32-E72D297353CC}">
              <c16:uniqueId val="{00000001-D7E8-4042-8225-9521843F4AEE}"/>
            </c:ext>
          </c:extLst>
        </c:ser>
        <c:dLbls>
          <c:showLegendKey val="0"/>
          <c:showVal val="0"/>
          <c:showCatName val="0"/>
          <c:showSerName val="0"/>
          <c:showPercent val="0"/>
          <c:showBubbleSize val="0"/>
        </c:dLbls>
        <c:gapWidth val="219"/>
        <c:axId val="2069980800"/>
        <c:axId val="1956881664"/>
      </c:barChart>
      <c:lineChart>
        <c:grouping val="standard"/>
        <c:varyColors val="0"/>
        <c:ser>
          <c:idx val="2"/>
          <c:order val="2"/>
          <c:tx>
            <c:strRef>
              <c:f>Sheet1!$D$1</c:f>
              <c:strCache>
                <c:ptCount val="1"/>
                <c:pt idx="0">
                  <c:v>% Discounted of Gross Revenue*</c:v>
                </c:pt>
              </c:strCache>
            </c:strRef>
          </c:tx>
          <c:spPr>
            <a:ln w="28575" cap="rnd">
              <a:solidFill>
                <a:schemeClr val="tx2">
                  <a:lumMod val="75000"/>
                </a:schemeClr>
              </a:solidFill>
              <a:round/>
            </a:ln>
            <a:effectLst/>
          </c:spPr>
          <c:marker>
            <c:symbol val="none"/>
          </c:marker>
          <c:cat>
            <c:numRef>
              <c:f>Sheet1!$A$2:$A$7</c:f>
              <c:numCache>
                <c:formatCode>General</c:formatCode>
                <c:ptCount val="6"/>
                <c:pt idx="0">
                  <c:v>2020</c:v>
                </c:pt>
                <c:pt idx="1">
                  <c:v>2021</c:v>
                </c:pt>
                <c:pt idx="2">
                  <c:v>2022</c:v>
                </c:pt>
                <c:pt idx="3">
                  <c:v>2023</c:v>
                </c:pt>
                <c:pt idx="4">
                  <c:v>2024</c:v>
                </c:pt>
                <c:pt idx="5">
                  <c:v>2025</c:v>
                </c:pt>
              </c:numCache>
            </c:numRef>
          </c:cat>
          <c:val>
            <c:numRef>
              <c:f>Sheet1!$D$2:$D$7</c:f>
              <c:numCache>
                <c:formatCode>0%</c:formatCode>
                <c:ptCount val="6"/>
                <c:pt idx="0">
                  <c:v>0</c:v>
                </c:pt>
                <c:pt idx="1">
                  <c:v>0</c:v>
                </c:pt>
                <c:pt idx="2" formatCode="0.00%">
                  <c:v>3.9E-2</c:v>
                </c:pt>
                <c:pt idx="3" formatCode="0.00%">
                  <c:v>0.151</c:v>
                </c:pt>
                <c:pt idx="4" formatCode="0.00%">
                  <c:v>0.309</c:v>
                </c:pt>
                <c:pt idx="5" formatCode="0.00%">
                  <c:v>0.35199999999999998</c:v>
                </c:pt>
              </c:numCache>
            </c:numRef>
          </c:val>
          <c:smooth val="0"/>
          <c:extLst>
            <c:ext xmlns:c16="http://schemas.microsoft.com/office/drawing/2014/chart" uri="{C3380CC4-5D6E-409C-BE32-E72D297353CC}">
              <c16:uniqueId val="{00000002-D7E8-4042-8225-9521843F4AEE}"/>
            </c:ext>
          </c:extLst>
        </c:ser>
        <c:dLbls>
          <c:showLegendKey val="0"/>
          <c:showVal val="0"/>
          <c:showCatName val="0"/>
          <c:showSerName val="0"/>
          <c:showPercent val="0"/>
          <c:showBubbleSize val="0"/>
        </c:dLbls>
        <c:marker val="1"/>
        <c:smooth val="0"/>
        <c:axId val="1437941768"/>
        <c:axId val="1437938696"/>
      </c:lineChart>
      <c:catAx>
        <c:axId val="206998080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956881664"/>
        <c:crosses val="autoZero"/>
        <c:auto val="1"/>
        <c:lblAlgn val="ctr"/>
        <c:lblOffset val="100"/>
        <c:noMultiLvlLbl val="0"/>
      </c:catAx>
      <c:valAx>
        <c:axId val="1956881664"/>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69980800"/>
        <c:crosses val="autoZero"/>
        <c:crossBetween val="between"/>
      </c:valAx>
      <c:valAx>
        <c:axId val="1437938696"/>
        <c:scaling>
          <c:orientation val="minMax"/>
        </c:scaling>
        <c:delete val="0"/>
        <c:axPos val="r"/>
        <c:numFmt formatCode="0%"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37941768"/>
        <c:crosses val="max"/>
        <c:crossBetween val="between"/>
      </c:valAx>
      <c:catAx>
        <c:axId val="1437941768"/>
        <c:scaling>
          <c:orientation val="minMax"/>
        </c:scaling>
        <c:delete val="1"/>
        <c:axPos val="b"/>
        <c:numFmt formatCode="General" sourceLinked="1"/>
        <c:majorTickMark val="out"/>
        <c:minorTickMark val="none"/>
        <c:tickLblPos val="nextTo"/>
        <c:crossAx val="1437938696"/>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userShapes r:id="rId4"/>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1" i="0" u="none" strike="noStrike" kern="1200" spc="0" baseline="0">
                <a:solidFill>
                  <a:schemeClr val="tx1">
                    <a:lumMod val="65000"/>
                    <a:lumOff val="35000"/>
                  </a:schemeClr>
                </a:solidFill>
                <a:latin typeface="+mn-lt"/>
                <a:ea typeface="+mn-ea"/>
                <a:cs typeface="+mn-cs"/>
              </a:defRPr>
            </a:pPr>
            <a:r>
              <a:rPr lang="en-SG" sz="1200" b="1"/>
              <a:t>Revenue per Customer vs</a:t>
            </a:r>
            <a:r>
              <a:rPr lang="en-SG" sz="1200" b="1" baseline="0"/>
              <a:t> # of Unique Customers</a:t>
            </a:r>
            <a:endParaRPr lang="en-SG" sz="1200" b="1"/>
          </a:p>
        </c:rich>
      </c:tx>
      <c:layout>
        <c:manualLayout>
          <c:xMode val="edge"/>
          <c:yMode val="edge"/>
          <c:x val="0.19129916840493122"/>
          <c:y val="3.7172624131818328E-2"/>
        </c:manualLayout>
      </c:layout>
      <c:overlay val="0"/>
      <c:spPr>
        <a:noFill/>
        <a:ln>
          <a:noFill/>
        </a:ln>
        <a:effectLst/>
      </c:spPr>
      <c:txPr>
        <a:bodyPr rot="0" spcFirstLastPara="1" vertOverflow="ellipsis" vert="horz" wrap="square" anchor="ctr" anchorCtr="1"/>
        <a:lstStyle/>
        <a:p>
          <a:pPr>
            <a:defRPr sz="1200" b="1" i="0" u="none" strike="noStrike" kern="1200" spc="0" baseline="0">
              <a:solidFill>
                <a:schemeClr val="tx1">
                  <a:lumMod val="65000"/>
                  <a:lumOff val="35000"/>
                </a:schemeClr>
              </a:solidFill>
              <a:latin typeface="+mn-lt"/>
              <a:ea typeface="+mn-ea"/>
              <a:cs typeface="+mn-cs"/>
            </a:defRPr>
          </a:pPr>
          <a:endParaRPr lang="en-SG"/>
        </a:p>
      </c:txPr>
    </c:title>
    <c:autoTitleDeleted val="0"/>
    <c:plotArea>
      <c:layout/>
      <c:barChart>
        <c:barDir val="col"/>
        <c:grouping val="clustered"/>
        <c:varyColors val="0"/>
        <c:ser>
          <c:idx val="0"/>
          <c:order val="0"/>
          <c:tx>
            <c:strRef>
              <c:f>Sheet1!$B$1</c:f>
              <c:strCache>
                <c:ptCount val="1"/>
                <c:pt idx="0">
                  <c:v># of Unique Customers</c:v>
                </c:pt>
              </c:strCache>
            </c:strRef>
          </c:tx>
          <c:spPr>
            <a:solidFill>
              <a:srgbClr val="0070C0"/>
            </a:solidFill>
            <a:ln>
              <a:noFill/>
            </a:ln>
            <a:effectLst/>
          </c:spPr>
          <c:invertIfNegative val="0"/>
          <c:cat>
            <c:numRef>
              <c:f>Sheet1!$A$2:$A$7</c:f>
              <c:numCache>
                <c:formatCode>General</c:formatCode>
                <c:ptCount val="6"/>
                <c:pt idx="0">
                  <c:v>2020</c:v>
                </c:pt>
                <c:pt idx="1">
                  <c:v>2021</c:v>
                </c:pt>
                <c:pt idx="2">
                  <c:v>2022</c:v>
                </c:pt>
                <c:pt idx="3">
                  <c:v>2023</c:v>
                </c:pt>
                <c:pt idx="4">
                  <c:v>2024</c:v>
                </c:pt>
                <c:pt idx="5">
                  <c:v>2025</c:v>
                </c:pt>
              </c:numCache>
            </c:numRef>
          </c:cat>
          <c:val>
            <c:numRef>
              <c:f>Sheet1!$B$2:$B$7</c:f>
              <c:numCache>
                <c:formatCode>General</c:formatCode>
                <c:ptCount val="6"/>
                <c:pt idx="0">
                  <c:v>1696</c:v>
                </c:pt>
                <c:pt idx="1">
                  <c:v>3815</c:v>
                </c:pt>
                <c:pt idx="2">
                  <c:v>2299</c:v>
                </c:pt>
                <c:pt idx="3">
                  <c:v>1399</c:v>
                </c:pt>
                <c:pt idx="4">
                  <c:v>2621</c:v>
                </c:pt>
                <c:pt idx="5">
                  <c:v>4107</c:v>
                </c:pt>
              </c:numCache>
            </c:numRef>
          </c:val>
          <c:extLst>
            <c:ext xmlns:c16="http://schemas.microsoft.com/office/drawing/2014/chart" uri="{C3380CC4-5D6E-409C-BE32-E72D297353CC}">
              <c16:uniqueId val="{00000000-5F63-4DC0-80AC-1A0E7DEF2932}"/>
            </c:ext>
          </c:extLst>
        </c:ser>
        <c:dLbls>
          <c:showLegendKey val="0"/>
          <c:showVal val="0"/>
          <c:showCatName val="0"/>
          <c:showSerName val="0"/>
          <c:showPercent val="0"/>
          <c:showBubbleSize val="0"/>
        </c:dLbls>
        <c:gapWidth val="219"/>
        <c:axId val="1836127872"/>
        <c:axId val="1836128352"/>
      </c:barChart>
      <c:lineChart>
        <c:grouping val="standard"/>
        <c:varyColors val="0"/>
        <c:ser>
          <c:idx val="1"/>
          <c:order val="1"/>
          <c:tx>
            <c:strRef>
              <c:f>Sheet1!$C$1</c:f>
              <c:strCache>
                <c:ptCount val="1"/>
                <c:pt idx="0">
                  <c:v>Revenue per Customer</c:v>
                </c:pt>
              </c:strCache>
            </c:strRef>
          </c:tx>
          <c:spPr>
            <a:ln w="28575" cap="rnd">
              <a:solidFill>
                <a:srgbClr val="BC7308"/>
              </a:solidFill>
              <a:round/>
            </a:ln>
            <a:effectLst/>
          </c:spPr>
          <c:marker>
            <c:symbol val="none"/>
          </c:marker>
          <c:cat>
            <c:numRef>
              <c:f>Sheet1!$A$2:$A$7</c:f>
              <c:numCache>
                <c:formatCode>General</c:formatCode>
                <c:ptCount val="6"/>
                <c:pt idx="0">
                  <c:v>2020</c:v>
                </c:pt>
                <c:pt idx="1">
                  <c:v>2021</c:v>
                </c:pt>
                <c:pt idx="2">
                  <c:v>2022</c:v>
                </c:pt>
                <c:pt idx="3">
                  <c:v>2023</c:v>
                </c:pt>
                <c:pt idx="4">
                  <c:v>2024</c:v>
                </c:pt>
                <c:pt idx="5">
                  <c:v>2025</c:v>
                </c:pt>
              </c:numCache>
            </c:numRef>
          </c:cat>
          <c:val>
            <c:numRef>
              <c:f>Sheet1!$C$2:$C$7</c:f>
              <c:numCache>
                <c:formatCode>General</c:formatCode>
                <c:ptCount val="6"/>
                <c:pt idx="0">
                  <c:v>269.42924528301887</c:v>
                </c:pt>
                <c:pt idx="1">
                  <c:v>222.26212319790301</c:v>
                </c:pt>
                <c:pt idx="2">
                  <c:v>325.17920835145713</c:v>
                </c:pt>
                <c:pt idx="3">
                  <c:v>130.12008577555397</c:v>
                </c:pt>
                <c:pt idx="4">
                  <c:v>108.72605875619992</c:v>
                </c:pt>
                <c:pt idx="5">
                  <c:v>99.623082542001455</c:v>
                </c:pt>
              </c:numCache>
            </c:numRef>
          </c:val>
          <c:smooth val="0"/>
          <c:extLst>
            <c:ext xmlns:c16="http://schemas.microsoft.com/office/drawing/2014/chart" uri="{C3380CC4-5D6E-409C-BE32-E72D297353CC}">
              <c16:uniqueId val="{00000001-5F63-4DC0-80AC-1A0E7DEF2932}"/>
            </c:ext>
          </c:extLst>
        </c:ser>
        <c:dLbls>
          <c:showLegendKey val="0"/>
          <c:showVal val="0"/>
          <c:showCatName val="0"/>
          <c:showSerName val="0"/>
          <c:showPercent val="0"/>
          <c:showBubbleSize val="0"/>
        </c:dLbls>
        <c:marker val="1"/>
        <c:smooth val="0"/>
        <c:axId val="157427920"/>
        <c:axId val="157444240"/>
      </c:lineChart>
      <c:catAx>
        <c:axId val="183612787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36128352"/>
        <c:crosses val="autoZero"/>
        <c:auto val="1"/>
        <c:lblAlgn val="ctr"/>
        <c:lblOffset val="100"/>
        <c:noMultiLvlLbl val="0"/>
      </c:catAx>
      <c:valAx>
        <c:axId val="183612835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36127872"/>
        <c:crosses val="autoZero"/>
        <c:crossBetween val="between"/>
      </c:valAx>
      <c:valAx>
        <c:axId val="157444240"/>
        <c:scaling>
          <c:orientation val="minMax"/>
        </c:scaling>
        <c:delete val="0"/>
        <c:axPos val="r"/>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57427920"/>
        <c:crosses val="max"/>
        <c:crossBetween val="between"/>
      </c:valAx>
      <c:catAx>
        <c:axId val="157427920"/>
        <c:scaling>
          <c:orientation val="minMax"/>
        </c:scaling>
        <c:delete val="1"/>
        <c:axPos val="b"/>
        <c:numFmt formatCode="General" sourceLinked="1"/>
        <c:majorTickMark val="out"/>
        <c:minorTickMark val="none"/>
        <c:tickLblPos val="nextTo"/>
        <c:crossAx val="157444240"/>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omments/modernComment_10B_12D92276.xml><?xml version="1.0" encoding="utf-8"?>
<p188:cmLst xmlns:a="http://schemas.openxmlformats.org/drawingml/2006/main" xmlns:r="http://schemas.openxmlformats.org/officeDocument/2006/relationships" xmlns:p188="http://schemas.microsoft.com/office/powerpoint/2018/8/main">
  <p188:cm id="{D93529ED-D9B2-4C3D-A119-FBF9F3E2D8AC}" authorId="{08D26E73-8D60-7FB4-25FB-1586B89879F7}" status="resolved" created="2026-05-20T18:29:29.601" complete="100000">
    <pc:sldMkLst xmlns:pc="http://schemas.microsoft.com/office/powerpoint/2013/main/command">
      <pc:docMk/>
      <pc:sldMk cId="316220022" sldId="267"/>
    </pc:sldMkLst>
    <p188:txBody>
      <a:bodyPr/>
      <a:lstStyle/>
      <a:p>
        <a:r>
          <a:rPr lang="en-GB"/>
          <a:t>Any reason to choose 1 to 3 product categories for the slide note?</a:t>
        </a:r>
      </a:p>
    </p188:txBody>
    <p188:extLst>
      <p:ext xmlns:p="http://schemas.openxmlformats.org/presentationml/2006/main" uri="{57CB4572-C831-44C2-8A1C-0ADB6CCDFE69}">
        <p223:reactions xmlns:p223="http://schemas.microsoft.com/office/powerpoint/2022/03/main">
          <p223:rxn type="👍">
            <p223:instance time="2026-05-21T13:44:32.748" authorId="{B98E695A-5499-708A-8C32-4E9E23718F2D}"/>
          </p223:rxn>
        </p223:reactions>
      </p:ext>
    </p188:extLst>
  </p188:cm>
</p188:cmLst>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C605254-A908-424D-84FA-193ED18A816C}" type="doc">
      <dgm:prSet loTypeId="urn:microsoft.com/office/officeart/2005/8/layout/chevron1" loCatId="process" qsTypeId="urn:microsoft.com/office/officeart/2005/8/quickstyle/simple1" qsCatId="simple" csTypeId="urn:microsoft.com/office/officeart/2005/8/colors/accent1_2" csCatId="accent1" phldr="1"/>
      <dgm:spPr/>
      <dgm:t>
        <a:bodyPr/>
        <a:lstStyle/>
        <a:p>
          <a:endParaRPr lang="en-SG"/>
        </a:p>
      </dgm:t>
    </dgm:pt>
    <dgm:pt modelId="{89A740EB-37B7-4C1E-94C0-4F3AFD4DE7FF}">
      <dgm:prSet phldrT="[Text]" phldr="0" custT="1"/>
      <dgm:spPr>
        <a:solidFill>
          <a:schemeClr val="accent1">
            <a:lumMod val="20000"/>
            <a:lumOff val="80000"/>
          </a:schemeClr>
        </a:solidFill>
        <a:ln>
          <a:noFill/>
        </a:ln>
      </dgm:spPr>
      <dgm:t>
        <a:bodyPr/>
        <a:lstStyle/>
        <a:p>
          <a:r>
            <a:rPr lang="en-US" sz="1400" b="1">
              <a:solidFill>
                <a:schemeClr val="tx1"/>
              </a:solidFill>
            </a:rPr>
            <a:t>Opportunity</a:t>
          </a:r>
          <a:endParaRPr lang="en-SG" sz="1400" b="1">
            <a:solidFill>
              <a:schemeClr val="tx1"/>
            </a:solidFill>
          </a:endParaRPr>
        </a:p>
      </dgm:t>
    </dgm:pt>
    <dgm:pt modelId="{E089AF4D-582B-48FD-BF15-E9BCCD81ADB8}" type="parTrans" cxnId="{F479B55D-C1CC-404A-B45B-3904C1F002C5}">
      <dgm:prSet/>
      <dgm:spPr/>
      <dgm:t>
        <a:bodyPr/>
        <a:lstStyle/>
        <a:p>
          <a:endParaRPr lang="en-SG"/>
        </a:p>
      </dgm:t>
    </dgm:pt>
    <dgm:pt modelId="{6E62EE4E-ED59-4CE0-AEAB-FDA3498A4C1F}" type="sibTrans" cxnId="{F479B55D-C1CC-404A-B45B-3904C1F002C5}">
      <dgm:prSet/>
      <dgm:spPr/>
      <dgm:t>
        <a:bodyPr/>
        <a:lstStyle/>
        <a:p>
          <a:endParaRPr lang="en-SG"/>
        </a:p>
      </dgm:t>
    </dgm:pt>
    <dgm:pt modelId="{3ECACAD0-B098-466B-AC33-CEDDBC58C922}">
      <dgm:prSet phldrT="[Text]" phldr="0" custT="1"/>
      <dgm:spPr>
        <a:solidFill>
          <a:schemeClr val="accent6"/>
        </a:solidFill>
      </dgm:spPr>
      <dgm:t>
        <a:bodyPr/>
        <a:lstStyle/>
        <a:p>
          <a:r>
            <a:rPr lang="en-US" sz="1400" b="1"/>
            <a:t>Action Plan</a:t>
          </a:r>
          <a:endParaRPr lang="en-SG" sz="1400" b="1"/>
        </a:p>
      </dgm:t>
    </dgm:pt>
    <dgm:pt modelId="{90731483-555C-465B-9A81-704EAD526BF9}" type="parTrans" cxnId="{4964ED3A-8E25-4EFA-928C-CECC0B57FE43}">
      <dgm:prSet/>
      <dgm:spPr/>
      <dgm:t>
        <a:bodyPr/>
        <a:lstStyle/>
        <a:p>
          <a:endParaRPr lang="en-SG"/>
        </a:p>
      </dgm:t>
    </dgm:pt>
    <dgm:pt modelId="{5186F7F0-B4EF-4476-9DFC-D118B55F61AD}" type="sibTrans" cxnId="{4964ED3A-8E25-4EFA-928C-CECC0B57FE43}">
      <dgm:prSet/>
      <dgm:spPr/>
      <dgm:t>
        <a:bodyPr/>
        <a:lstStyle/>
        <a:p>
          <a:endParaRPr lang="en-SG"/>
        </a:p>
      </dgm:t>
    </dgm:pt>
    <dgm:pt modelId="{ABF4DDF4-87B0-48FA-B943-3BAF7B8AE537}">
      <dgm:prSet custT="1"/>
      <dgm:spPr>
        <a:solidFill>
          <a:schemeClr val="accent1"/>
        </a:solidFill>
      </dgm:spPr>
      <dgm:t>
        <a:bodyPr/>
        <a:lstStyle/>
        <a:p>
          <a:r>
            <a:rPr lang="en-US" sz="1400" b="1">
              <a:solidFill>
                <a:schemeClr val="tx1"/>
              </a:solidFill>
            </a:rPr>
            <a:t>Potential Business Value</a:t>
          </a:r>
          <a:endParaRPr lang="en-SG" sz="1400" b="1">
            <a:solidFill>
              <a:schemeClr val="tx1"/>
            </a:solidFill>
          </a:endParaRPr>
        </a:p>
      </dgm:t>
    </dgm:pt>
    <dgm:pt modelId="{7A2C6E08-360B-45D0-8FB3-BCC980460C11}" type="parTrans" cxnId="{639DD948-0FA2-4748-9A16-3DA78C9B553F}">
      <dgm:prSet/>
      <dgm:spPr/>
      <dgm:t>
        <a:bodyPr/>
        <a:lstStyle/>
        <a:p>
          <a:endParaRPr lang="en-SG"/>
        </a:p>
      </dgm:t>
    </dgm:pt>
    <dgm:pt modelId="{9E80F185-7C92-4EB0-9ECF-69591EE8DEAC}" type="sibTrans" cxnId="{639DD948-0FA2-4748-9A16-3DA78C9B553F}">
      <dgm:prSet/>
      <dgm:spPr/>
      <dgm:t>
        <a:bodyPr/>
        <a:lstStyle/>
        <a:p>
          <a:endParaRPr lang="en-SG"/>
        </a:p>
      </dgm:t>
    </dgm:pt>
    <dgm:pt modelId="{8DE08DEE-A6A0-4F6D-9104-420771BB3A0B}" type="pres">
      <dgm:prSet presAssocID="{CC605254-A908-424D-84FA-193ED18A816C}" presName="Name0" presStyleCnt="0">
        <dgm:presLayoutVars>
          <dgm:dir/>
          <dgm:animLvl val="lvl"/>
          <dgm:resizeHandles val="exact"/>
        </dgm:presLayoutVars>
      </dgm:prSet>
      <dgm:spPr/>
    </dgm:pt>
    <dgm:pt modelId="{304EE59D-9B57-4CDF-AA5E-D931C56AC71D}" type="pres">
      <dgm:prSet presAssocID="{89A740EB-37B7-4C1E-94C0-4F3AFD4DE7FF}" presName="parTxOnly" presStyleLbl="node1" presStyleIdx="0" presStyleCnt="3">
        <dgm:presLayoutVars>
          <dgm:chMax val="0"/>
          <dgm:chPref val="0"/>
          <dgm:bulletEnabled val="1"/>
        </dgm:presLayoutVars>
      </dgm:prSet>
      <dgm:spPr/>
    </dgm:pt>
    <dgm:pt modelId="{455D1BD4-0060-470A-AED9-5C15F559940F}" type="pres">
      <dgm:prSet presAssocID="{6E62EE4E-ED59-4CE0-AEAB-FDA3498A4C1F}" presName="parTxOnlySpace" presStyleCnt="0"/>
      <dgm:spPr/>
    </dgm:pt>
    <dgm:pt modelId="{EC505CCC-05E4-456F-91C4-E24C94F77EA7}" type="pres">
      <dgm:prSet presAssocID="{ABF4DDF4-87B0-48FA-B943-3BAF7B8AE537}" presName="parTxOnly" presStyleLbl="node1" presStyleIdx="1" presStyleCnt="3">
        <dgm:presLayoutVars>
          <dgm:chMax val="0"/>
          <dgm:chPref val="0"/>
          <dgm:bulletEnabled val="1"/>
        </dgm:presLayoutVars>
      </dgm:prSet>
      <dgm:spPr/>
    </dgm:pt>
    <dgm:pt modelId="{FB7959AE-5DBC-4CD1-999F-9D43AD6EEE12}" type="pres">
      <dgm:prSet presAssocID="{9E80F185-7C92-4EB0-9ECF-69591EE8DEAC}" presName="parTxOnlySpace" presStyleCnt="0"/>
      <dgm:spPr/>
    </dgm:pt>
    <dgm:pt modelId="{79DD4B15-A41A-420B-9667-7D57F4440421}" type="pres">
      <dgm:prSet presAssocID="{3ECACAD0-B098-466B-AC33-CEDDBC58C922}" presName="parTxOnly" presStyleLbl="node1" presStyleIdx="2" presStyleCnt="3">
        <dgm:presLayoutVars>
          <dgm:chMax val="0"/>
          <dgm:chPref val="0"/>
          <dgm:bulletEnabled val="1"/>
        </dgm:presLayoutVars>
      </dgm:prSet>
      <dgm:spPr/>
    </dgm:pt>
  </dgm:ptLst>
  <dgm:cxnLst>
    <dgm:cxn modelId="{2695AA05-C973-4019-BAA7-86A9E5CA0063}" type="presOf" srcId="{CC605254-A908-424D-84FA-193ED18A816C}" destId="{8DE08DEE-A6A0-4F6D-9104-420771BB3A0B}" srcOrd="0" destOrd="0" presId="urn:microsoft.com/office/officeart/2005/8/layout/chevron1"/>
    <dgm:cxn modelId="{DB8A9E24-19D1-4248-A070-65AE9122DB92}" type="presOf" srcId="{3ECACAD0-B098-466B-AC33-CEDDBC58C922}" destId="{79DD4B15-A41A-420B-9667-7D57F4440421}" srcOrd="0" destOrd="0" presId="urn:microsoft.com/office/officeart/2005/8/layout/chevron1"/>
    <dgm:cxn modelId="{4964ED3A-8E25-4EFA-928C-CECC0B57FE43}" srcId="{CC605254-A908-424D-84FA-193ED18A816C}" destId="{3ECACAD0-B098-466B-AC33-CEDDBC58C922}" srcOrd="2" destOrd="0" parTransId="{90731483-555C-465B-9A81-704EAD526BF9}" sibTransId="{5186F7F0-B4EF-4476-9DFC-D118B55F61AD}"/>
    <dgm:cxn modelId="{F479B55D-C1CC-404A-B45B-3904C1F002C5}" srcId="{CC605254-A908-424D-84FA-193ED18A816C}" destId="{89A740EB-37B7-4C1E-94C0-4F3AFD4DE7FF}" srcOrd="0" destOrd="0" parTransId="{E089AF4D-582B-48FD-BF15-E9BCCD81ADB8}" sibTransId="{6E62EE4E-ED59-4CE0-AEAB-FDA3498A4C1F}"/>
    <dgm:cxn modelId="{639DD948-0FA2-4748-9A16-3DA78C9B553F}" srcId="{CC605254-A908-424D-84FA-193ED18A816C}" destId="{ABF4DDF4-87B0-48FA-B943-3BAF7B8AE537}" srcOrd="1" destOrd="0" parTransId="{7A2C6E08-360B-45D0-8FB3-BCC980460C11}" sibTransId="{9E80F185-7C92-4EB0-9ECF-69591EE8DEAC}"/>
    <dgm:cxn modelId="{16D63FCD-D3F9-45E7-A1D5-C6F95207A70C}" type="presOf" srcId="{89A740EB-37B7-4C1E-94C0-4F3AFD4DE7FF}" destId="{304EE59D-9B57-4CDF-AA5E-D931C56AC71D}" srcOrd="0" destOrd="0" presId="urn:microsoft.com/office/officeart/2005/8/layout/chevron1"/>
    <dgm:cxn modelId="{E3FBB3F0-577F-4DCB-ABCA-9E2A1FFBB83D}" type="presOf" srcId="{ABF4DDF4-87B0-48FA-B943-3BAF7B8AE537}" destId="{EC505CCC-05E4-456F-91C4-E24C94F77EA7}" srcOrd="0" destOrd="0" presId="urn:microsoft.com/office/officeart/2005/8/layout/chevron1"/>
    <dgm:cxn modelId="{D87AA42C-E2F0-44C8-AFBA-820B2A590157}" type="presParOf" srcId="{8DE08DEE-A6A0-4F6D-9104-420771BB3A0B}" destId="{304EE59D-9B57-4CDF-AA5E-D931C56AC71D}" srcOrd="0" destOrd="0" presId="urn:microsoft.com/office/officeart/2005/8/layout/chevron1"/>
    <dgm:cxn modelId="{1A770B18-5648-4100-97AC-EA1FC696E436}" type="presParOf" srcId="{8DE08DEE-A6A0-4F6D-9104-420771BB3A0B}" destId="{455D1BD4-0060-470A-AED9-5C15F559940F}" srcOrd="1" destOrd="0" presId="urn:microsoft.com/office/officeart/2005/8/layout/chevron1"/>
    <dgm:cxn modelId="{690755BB-FCB8-4405-BB08-53B65627C1A9}" type="presParOf" srcId="{8DE08DEE-A6A0-4F6D-9104-420771BB3A0B}" destId="{EC505CCC-05E4-456F-91C4-E24C94F77EA7}" srcOrd="2" destOrd="0" presId="urn:microsoft.com/office/officeart/2005/8/layout/chevron1"/>
    <dgm:cxn modelId="{98C43D79-B22B-4C36-9099-F2FA04F330C7}" type="presParOf" srcId="{8DE08DEE-A6A0-4F6D-9104-420771BB3A0B}" destId="{FB7959AE-5DBC-4CD1-999F-9D43AD6EEE12}" srcOrd="3" destOrd="0" presId="urn:microsoft.com/office/officeart/2005/8/layout/chevron1"/>
    <dgm:cxn modelId="{90BE3AEB-0C98-41F4-BFEF-B62F184EA544}" type="presParOf" srcId="{8DE08DEE-A6A0-4F6D-9104-420771BB3A0B}" destId="{79DD4B15-A41A-420B-9667-7D57F4440421}" srcOrd="4"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04EE59D-9B57-4CDF-AA5E-D931C56AC71D}">
      <dsp:nvSpPr>
        <dsp:cNvPr id="0" name=""/>
        <dsp:cNvSpPr/>
      </dsp:nvSpPr>
      <dsp:spPr>
        <a:xfrm>
          <a:off x="2462" y="0"/>
          <a:ext cx="3000459" cy="611024"/>
        </a:xfrm>
        <a:prstGeom prst="chevron">
          <a:avLst/>
        </a:prstGeom>
        <a:solidFill>
          <a:schemeClr val="accent1">
            <a:lumMod val="20000"/>
            <a:lumOff val="80000"/>
          </a:schemeClr>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en-US" sz="1400" b="1" kern="1200">
              <a:solidFill>
                <a:schemeClr val="tx1"/>
              </a:solidFill>
            </a:rPr>
            <a:t>Opportunity</a:t>
          </a:r>
          <a:endParaRPr lang="en-SG" sz="1400" b="1" kern="1200">
            <a:solidFill>
              <a:schemeClr val="tx1"/>
            </a:solidFill>
          </a:endParaRPr>
        </a:p>
      </dsp:txBody>
      <dsp:txXfrm>
        <a:off x="307974" y="0"/>
        <a:ext cx="2389435" cy="611024"/>
      </dsp:txXfrm>
    </dsp:sp>
    <dsp:sp modelId="{EC505CCC-05E4-456F-91C4-E24C94F77EA7}">
      <dsp:nvSpPr>
        <dsp:cNvPr id="0" name=""/>
        <dsp:cNvSpPr/>
      </dsp:nvSpPr>
      <dsp:spPr>
        <a:xfrm>
          <a:off x="2702876" y="0"/>
          <a:ext cx="3000459" cy="611024"/>
        </a:xfrm>
        <a:prstGeom prst="chevron">
          <a:avLst/>
        </a:prstGeom>
        <a:solidFill>
          <a:schemeClr val="accent1"/>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en-US" sz="1400" b="1" kern="1200">
              <a:solidFill>
                <a:schemeClr val="tx1"/>
              </a:solidFill>
            </a:rPr>
            <a:t>Potential Business Value</a:t>
          </a:r>
          <a:endParaRPr lang="en-SG" sz="1400" b="1" kern="1200">
            <a:solidFill>
              <a:schemeClr val="tx1"/>
            </a:solidFill>
          </a:endParaRPr>
        </a:p>
      </dsp:txBody>
      <dsp:txXfrm>
        <a:off x="3008388" y="0"/>
        <a:ext cx="2389435" cy="611024"/>
      </dsp:txXfrm>
    </dsp:sp>
    <dsp:sp modelId="{79DD4B15-A41A-420B-9667-7D57F4440421}">
      <dsp:nvSpPr>
        <dsp:cNvPr id="0" name=""/>
        <dsp:cNvSpPr/>
      </dsp:nvSpPr>
      <dsp:spPr>
        <a:xfrm>
          <a:off x="5403290" y="0"/>
          <a:ext cx="3000459" cy="611024"/>
        </a:xfrm>
        <a:prstGeom prst="chevron">
          <a:avLst/>
        </a:prstGeom>
        <a:solidFill>
          <a:schemeClr val="accent6"/>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en-US" sz="1400" b="1" kern="1200"/>
            <a:t>Action Plan</a:t>
          </a:r>
          <a:endParaRPr lang="en-SG" sz="1400" b="1" kern="1200"/>
        </a:p>
      </dsp:txBody>
      <dsp:txXfrm>
        <a:off x="5708802" y="0"/>
        <a:ext cx="2389435" cy="611024"/>
      </dsp:txXfrm>
    </dsp:sp>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drawing1.xml><?xml version="1.0" encoding="utf-8"?>
<c:userShapes xmlns:c="http://schemas.openxmlformats.org/drawingml/2006/chart">
  <cdr:relSizeAnchor xmlns:cdr="http://schemas.openxmlformats.org/drawingml/2006/chartDrawing">
    <cdr:from>
      <cdr:x>0.53941</cdr:x>
      <cdr:y>0.11523</cdr:y>
    </cdr:from>
    <cdr:to>
      <cdr:x>0.62391</cdr:x>
      <cdr:y>0.17044</cdr:y>
    </cdr:to>
    <cdr:sp macro="" textlink="">
      <cdr:nvSpPr>
        <cdr:cNvPr id="2" name="Oval 1">
          <a:extLst xmlns:a="http://schemas.openxmlformats.org/drawingml/2006/main">
            <a:ext uri="{FF2B5EF4-FFF2-40B4-BE49-F238E27FC236}">
              <a16:creationId xmlns:a16="http://schemas.microsoft.com/office/drawing/2014/main" id="{8A5F6125-0AAF-9AD9-3842-1B36667D14F2}"/>
            </a:ext>
          </a:extLst>
        </cdr:cNvPr>
        <cdr:cNvSpPr/>
      </cdr:nvSpPr>
      <cdr:spPr>
        <a:xfrm xmlns:a="http://schemas.openxmlformats.org/drawingml/2006/main">
          <a:off x="3288232" y="436961"/>
          <a:ext cx="515121" cy="209367"/>
        </a:xfrm>
        <a:prstGeom xmlns:a="http://schemas.openxmlformats.org/drawingml/2006/main" prst="ellipse">
          <a:avLst/>
        </a:prstGeom>
        <a:solidFill xmlns:a="http://schemas.openxmlformats.org/drawingml/2006/main">
          <a:schemeClr val="bg1">
            <a:lumMod val="95000"/>
          </a:schemeClr>
        </a:solidFill>
        <a:ln xmlns:a="http://schemas.openxmlformats.org/drawingml/2006/main" w="6350">
          <a:solidFill>
            <a:schemeClr val="accent2"/>
          </a:solidFill>
        </a:ln>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a:lstStyle xmlns:a="http://schemas.openxmlformats.org/drawingml/2006/main"/>
        <a:p xmlns:a="http://schemas.openxmlformats.org/drawingml/2006/main">
          <a:endParaRPr lang="en-SG" kern="1200" dirty="0"/>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24879B-D41F-4EEB-B5CC-2B2BE49D0868}" type="datetimeFigureOut">
              <a:rPr lang="en-SG" smtClean="0"/>
              <a:t>22/5/2026</a:t>
            </a:fld>
            <a:endParaRPr lang="en-S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41A1982-EBDD-40F6-8E7C-4FEC554E49B1}" type="slidenum">
              <a:rPr lang="en-SG" smtClean="0"/>
              <a:t>‹#›</a:t>
            </a:fld>
            <a:endParaRPr lang="en-SG"/>
          </a:p>
        </p:txBody>
      </p:sp>
    </p:spTree>
    <p:extLst>
      <p:ext uri="{BB962C8B-B14F-4D97-AF65-F5344CB8AC3E}">
        <p14:creationId xmlns:p14="http://schemas.microsoft.com/office/powerpoint/2010/main" val="23208125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84E743-34DB-46D5-6F04-92432C8536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5C0D44-0AFA-66E8-A1EB-78B5DA1CCD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747448-8CA9-9620-BD64-8DD4512FECAE}"/>
              </a:ext>
            </a:extLst>
          </p:cNvPr>
          <p:cNvSpPr>
            <a:spLocks noGrp="1"/>
          </p:cNvSpPr>
          <p:nvPr>
            <p:ph type="body" idx="1"/>
          </p:nvPr>
        </p:nvSpPr>
        <p:spPr/>
        <p:txBody>
          <a:bodyPr/>
          <a:lstStyle/>
          <a:p>
            <a:endParaRPr lang="en-US"/>
          </a:p>
          <a:p>
            <a:endParaRPr lang="en-US"/>
          </a:p>
          <a:p>
            <a:pPr algn="l"/>
            <a:r>
              <a:rPr lang="en-US" sz="1200"/>
              <a:t>-52% Revenue in 2025 vs 2021 peak, despite 8% more unique customers in 2025</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Revenue per customer: 2021 vs 2025, a 55% collapse in customer value</a:t>
            </a:r>
          </a:p>
          <a:p>
            <a:pPr algn="ctr"/>
            <a:endParaRPr lang="en-US" sz="1200"/>
          </a:p>
          <a:p>
            <a:endParaRPr lang="en-SG"/>
          </a:p>
        </p:txBody>
      </p:sp>
      <p:sp>
        <p:nvSpPr>
          <p:cNvPr id="4" name="Slide Number Placeholder 3">
            <a:extLst>
              <a:ext uri="{FF2B5EF4-FFF2-40B4-BE49-F238E27FC236}">
                <a16:creationId xmlns:a16="http://schemas.microsoft.com/office/drawing/2014/main" id="{6A8D5343-31EF-8DCC-1DA8-4A51B705E0E9}"/>
              </a:ext>
            </a:extLst>
          </p:cNvPr>
          <p:cNvSpPr>
            <a:spLocks noGrp="1"/>
          </p:cNvSpPr>
          <p:nvPr>
            <p:ph type="sldNum" sz="quarter" idx="5"/>
          </p:nvPr>
        </p:nvSpPr>
        <p:spPr/>
        <p:txBody>
          <a:bodyPr/>
          <a:lstStyle/>
          <a:p>
            <a:fld id="{641A1982-EBDD-40F6-8E7C-4FEC554E49B1}" type="slidenum">
              <a:rPr lang="en-SG" smtClean="0"/>
              <a:t>4</a:t>
            </a:fld>
            <a:endParaRPr lang="en-SG"/>
          </a:p>
        </p:txBody>
      </p:sp>
    </p:spTree>
    <p:extLst>
      <p:ext uri="{BB962C8B-B14F-4D97-AF65-F5344CB8AC3E}">
        <p14:creationId xmlns:p14="http://schemas.microsoft.com/office/powerpoint/2010/main" val="36268446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"Any discount hurts loyalty. Deep discounts destroy it."</a:t>
            </a:r>
          </a:p>
          <a:p>
            <a:r>
              <a:rPr lang="en-US"/>
              <a:t> </a:t>
            </a:r>
          </a:p>
          <a:p>
            <a:r>
              <a:rPr lang="en-US"/>
              <a:t>Full-price first-time buyers repeat at 36.4% with an average LTV of S$274. Any discounted first order drops the repeat rate to ~22–26% — a floor that barely moves regardless of how deep the discount goes.</a:t>
            </a:r>
          </a:p>
          <a:p>
            <a:r>
              <a:rPr lang="en-US"/>
              <a:t> </a:t>
            </a:r>
          </a:p>
          <a:p>
            <a:r>
              <a:rPr lang="en-US"/>
              <a:t>The heaviest cohort (51%+ off) has a repeat rate of 21.9% and LTV of just S$92 — a −40% repeat rate drop and −66% LTV collapse vs full price.</a:t>
            </a:r>
          </a:p>
          <a:p>
            <a:r>
              <a:rPr lang="en-US"/>
              <a:t> </a:t>
            </a:r>
          </a:p>
          <a:p>
            <a:r>
              <a:rPr lang="en-US"/>
              <a:t>The brand is not just discounting existing demand — it is systematically recruiting a lower-quality customer base. 1,619 first-time buyers (12.1% of all acquisitions) came in at 31%+ off. Every one of them is worth roughly one-third of a full-price customer over their lifetime.</a:t>
            </a:r>
          </a:p>
        </p:txBody>
      </p:sp>
      <p:sp>
        <p:nvSpPr>
          <p:cNvPr id="4" name="Slide Number Placeholder 3"/>
          <p:cNvSpPr>
            <a:spLocks noGrp="1"/>
          </p:cNvSpPr>
          <p:nvPr>
            <p:ph type="sldNum" sz="quarter" idx="5"/>
          </p:nvPr>
        </p:nvSpPr>
        <p:spPr/>
        <p:txBody>
          <a:bodyPr/>
          <a:lstStyle/>
          <a:p>
            <a:fld id="{641A1982-EBDD-40F6-8E7C-4FEC554E49B1}" type="slidenum">
              <a:rPr lang="en-SG" smtClean="0"/>
              <a:t>5</a:t>
            </a:fld>
            <a:endParaRPr lang="en-SG"/>
          </a:p>
        </p:txBody>
      </p:sp>
    </p:spTree>
    <p:extLst>
      <p:ext uri="{BB962C8B-B14F-4D97-AF65-F5344CB8AC3E}">
        <p14:creationId xmlns:p14="http://schemas.microsoft.com/office/powerpoint/2010/main" val="13638051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chart looks at all 4,461 customers who ever made a second purchase and asks: when did they come back?</a:t>
            </a:r>
          </a:p>
          <a:p>
            <a:endParaRPr lang="en-US"/>
          </a:p>
          <a:p>
            <a:r>
              <a:rPr lang="en-US"/>
              <a:t>The orange bars on the left — Days 0 to 30 — show the customers who came back quickly. These are highly engaged buyers who repurchased almost immediately, maybe they ran out of protein, or they bought a gift and came back for themselves.</a:t>
            </a:r>
            <a:endParaRPr lang="en-GB"/>
          </a:p>
          <a:p>
            <a:endParaRPr lang="en-US"/>
          </a:p>
          <a:p>
            <a:r>
              <a:rPr lang="en-US"/>
              <a:t>Then you see a dip in Days 31–60, before a big spike. The 61–90 day window is actually the single largest repurchase bucket — more customers return here than in any other 30-day window. That makes sense for a protein supplement: if you buy a month's supply, you run out in about 4–6 weeks, and then you need to reorder.</a:t>
            </a:r>
            <a:endParaRPr lang="en-GB"/>
          </a:p>
          <a:p>
            <a:endParaRPr lang="en-US"/>
          </a:p>
          <a:p>
            <a:r>
              <a:rPr lang="en-US"/>
              <a:t>The key takeaway is this: 41% of customers who will ever come back do so within 60 days. Half do so within 90 days. After that, the numbers drop off. So the first 3 months after a first purchase are by far the most critical window for </a:t>
            </a:r>
            <a:r>
              <a:rPr lang="en-US" err="1"/>
              <a:t>LushProtein</a:t>
            </a:r>
            <a:r>
              <a:rPr lang="en-US"/>
              <a:t> to act.</a:t>
            </a:r>
            <a:endParaRPr lang="en-GB"/>
          </a:p>
          <a:p>
            <a:r>
              <a:rPr lang="en-US" i="1"/>
              <a:t>"This chart looks only at customers who came back for a second purchase — and asks: how long did it take them?</a:t>
            </a:r>
            <a:endParaRPr lang="en-US"/>
          </a:p>
          <a:p>
            <a:r>
              <a:rPr lang="en-US" i="1"/>
              <a:t>Each bar is a time window. The height tells you what percentage of all repeat buyers came back in that window.</a:t>
            </a:r>
            <a:endParaRPr lang="en-US"/>
          </a:p>
          <a:p>
            <a:r>
              <a:rPr lang="en-US" i="1"/>
              <a:t>A few things stand out. First, 41% of repeat buyers come back within the first 60 days — that's the orange bars on the left. So nearly half of all returning customers return fast, within two months.</a:t>
            </a:r>
            <a:endParaRPr lang="en-US"/>
          </a:p>
          <a:p>
            <a:r>
              <a:rPr lang="en-US" i="1"/>
              <a:t>Second, the single biggest window is 61 to 90 days — 10.3%. That makes intuitive sense for a protein supplement. You buy a month's supply, you finish it in 4 to 6 weeks, and then you reorder. That's the natural repurchase cycle.</a:t>
            </a:r>
            <a:endParaRPr lang="en-US"/>
          </a:p>
          <a:p>
            <a:r>
              <a:rPr lang="en-US" i="1"/>
              <a:t>Third, 51% return within 90 days. So more than half of all repeat buyers come back within 3 months.</a:t>
            </a:r>
            <a:endParaRPr lang="en-US"/>
          </a:p>
          <a:p>
            <a:r>
              <a:rPr lang="en-US" i="1"/>
              <a:t>The implication is clear: if you want to win a customer back, the first 90 days are your window. After that, the bars shrink and the opportunity fades. This sets up the next question — what exactly happens to customers who don't come back in that window?"</a:t>
            </a:r>
          </a:p>
          <a:p>
            <a:endParaRPr lang="en-US"/>
          </a:p>
          <a:p>
            <a:endParaRPr lang="en-US">
              <a:latin typeface="Calibri"/>
              <a:ea typeface="Calibri"/>
              <a:cs typeface="Calibri"/>
            </a:endParaRPr>
          </a:p>
        </p:txBody>
      </p:sp>
      <p:sp>
        <p:nvSpPr>
          <p:cNvPr id="4" name="Slide Number Placeholder 3"/>
          <p:cNvSpPr>
            <a:spLocks noGrp="1"/>
          </p:cNvSpPr>
          <p:nvPr>
            <p:ph type="sldNum" sz="quarter" idx="5"/>
          </p:nvPr>
        </p:nvSpPr>
        <p:spPr/>
        <p:txBody>
          <a:bodyPr/>
          <a:lstStyle/>
          <a:p>
            <a:fld id="{641A1982-EBDD-40F6-8E7C-4FEC554E49B1}" type="slidenum">
              <a:rPr lang="en-SG" smtClean="0"/>
              <a:t>6</a:t>
            </a:fld>
            <a:endParaRPr lang="en-SG"/>
          </a:p>
        </p:txBody>
      </p:sp>
    </p:spTree>
    <p:extLst>
      <p:ext uri="{BB962C8B-B14F-4D97-AF65-F5344CB8AC3E}">
        <p14:creationId xmlns:p14="http://schemas.microsoft.com/office/powerpoint/2010/main" val="21549851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Left Chart — Survival Curve</a:t>
            </a:r>
            <a:endParaRPr lang="en-US"/>
          </a:p>
          <a:p>
            <a:r>
              <a:rPr lang="en-US" b="1"/>
              <a:t>What it shows:</a:t>
            </a:r>
            <a:r>
              <a:rPr lang="en-US"/>
              <a:t> For a customer who has NOT yet returned, what is the probability they ever will — as days pass?</a:t>
            </a:r>
            <a:endParaRPr lang="en-GB"/>
          </a:p>
          <a:p>
            <a:r>
              <a:rPr lang="en-US" b="1"/>
              <a:t>Source:</a:t>
            </a:r>
            <a:r>
              <a:rPr lang="en-US"/>
              <a:t> Built from 0</a:t>
            </a:r>
            <a:r>
              <a:rPr lang="en-US" b="1"/>
              <a:t>3_time_to_second_purchase.csv </a:t>
            </a:r>
            <a:r>
              <a:rPr lang="en-US"/>
              <a:t>(bucket percentages) + </a:t>
            </a:r>
            <a:r>
              <a:rPr lang="en-US" b="1"/>
              <a:t>05_channel_quality.csv </a:t>
            </a:r>
            <a:r>
              <a:rPr lang="en-US"/>
              <a:t>(overall repeat rate)</a:t>
            </a:r>
            <a:endParaRPr lang="en-GB"/>
          </a:p>
          <a:p>
            <a:endParaRPr lang="en-US"/>
          </a:p>
          <a:p>
            <a:r>
              <a:rPr lang="en-US" b="1"/>
              <a:t>Where 32.4% comes from (top of the curve):</a:t>
            </a:r>
            <a:r>
              <a:rPr lang="en-US"/>
              <a:t> From 05_channel_quality.csv: total repeaters across all channels ÷ total customers = 4,459 ÷ 13,780 = </a:t>
            </a:r>
            <a:r>
              <a:rPr lang="en-US" b="1"/>
              <a:t>32.4%</a:t>
            </a:r>
            <a:r>
              <a:rPr lang="en-US"/>
              <a:t>. </a:t>
            </a:r>
            <a:endParaRPr lang="en-GB"/>
          </a:p>
          <a:p>
            <a:r>
              <a:rPr lang="en-US"/>
              <a:t>This is the starting point — the moment someone places their first order, there is a 32.4% chance they will ever buy again.</a:t>
            </a:r>
            <a:endParaRPr lang="en-GB"/>
          </a:p>
          <a:p>
            <a:endParaRPr lang="en-US"/>
          </a:p>
          <a:p>
            <a:r>
              <a:rPr lang="en-US" b="1"/>
              <a:t>Where 19.2% comes from (Day 60):</a:t>
            </a:r>
            <a:r>
              <a:rPr lang="en-US"/>
              <a:t> By Day 60, 40.8% of all repeat buyers have already come back (from the first 6 buckets in Slide 1). So 40.8% of the "returners" have been used up. The remaining probability = 32.4% × (1 − 40.8%) = 32.4% × 59.2% = </a:t>
            </a:r>
            <a:r>
              <a:rPr lang="en-US" b="1"/>
              <a:t>19.2%</a:t>
            </a:r>
            <a:r>
              <a:rPr lang="en-US"/>
              <a:t>. Every day that passes without a 2nd purchase, the probability ticks down.</a:t>
            </a:r>
            <a:endParaRPr lang="en-GB"/>
          </a:p>
          <a:p>
            <a:r>
              <a:rPr lang="en-US" b="1"/>
              <a:t>Where 11.4% comes from (Day 180):</a:t>
            </a:r>
            <a:r>
              <a:rPr lang="en-US"/>
              <a:t> By Day 180, the first 9 buckets account for 64.7% of all repeat buyers. Remaining probability = 32.4% × (1 − 64.7%) = 32.4% × 35.3% = </a:t>
            </a:r>
            <a:r>
              <a:rPr lang="en-US" b="1"/>
              <a:t>11.4%</a:t>
            </a:r>
            <a:r>
              <a:rPr lang="en-US"/>
              <a:t>.</a:t>
            </a:r>
            <a:endParaRPr lang="en-GB"/>
          </a:p>
          <a:p>
            <a:r>
              <a:rPr lang="en-US" b="1"/>
              <a:t>The "Action window" shading (0–60 days):</a:t>
            </a:r>
            <a:r>
              <a:rPr lang="en-US"/>
              <a:t> Just a visual highlight showing the zone where intervention has the highest impact — while the probability is still high.</a:t>
            </a:r>
            <a:endParaRPr lang="en-GB"/>
          </a:p>
          <a:p>
            <a:endParaRPr lang="en-US">
              <a:latin typeface="Calibri"/>
              <a:ea typeface="Calibri"/>
              <a:cs typeface="Calibri"/>
            </a:endParaRPr>
          </a:p>
          <a:p>
            <a:endParaRPr lang="en-US">
              <a:latin typeface="Calibri"/>
              <a:ea typeface="Calibri"/>
              <a:cs typeface="Calibri"/>
            </a:endParaRPr>
          </a:p>
          <a:p>
            <a:r>
              <a:rPr lang="en-US"/>
              <a:t>Right Chart — LTV Staircase</a:t>
            </a:r>
          </a:p>
          <a:p>
            <a:r>
              <a:rPr lang="en-US" b="1"/>
              <a:t>What it shows:</a:t>
            </a:r>
            <a:r>
              <a:rPr lang="en-US"/>
              <a:t> If a customer is currently at stage X (just made their Nth purchase), what is their total expected lifetime value — combining what's already been received and what's statistically expected in the future?</a:t>
            </a:r>
          </a:p>
          <a:p>
            <a:r>
              <a:rPr lang="en-US" b="1"/>
              <a:t>Source:</a:t>
            </a:r>
            <a:r>
              <a:rPr lang="en-US"/>
              <a:t> 07_lens1_decomposition.csv (AOV = S$92) + 09_lens3_inter_purchase_time.csv (conversion rates)</a:t>
            </a:r>
          </a:p>
          <a:p>
            <a:r>
              <a:rPr lang="en-US" b="1"/>
              <a:t>Where S$278 comes from ("After 1st order"):</a:t>
            </a:r>
            <a:endParaRPr lang="en-US"/>
          </a:p>
          <a:p>
            <a:pPr marL="171450" indent="-171450">
              <a:buFont typeface="Arial"/>
              <a:buChar char="•"/>
            </a:pPr>
            <a:r>
              <a:rPr lang="en-US"/>
              <a:t>Already received: S$92 (1 order)</a:t>
            </a:r>
          </a:p>
          <a:p>
            <a:pPr marL="171450" indent="-171450">
              <a:buFont typeface="Arial"/>
              <a:buChar char="•"/>
            </a:pPr>
            <a:r>
              <a:rPr lang="en-US"/>
              <a:t>Expected future: using the full conversion chain starting at 1→2 (52.8%), the expected future orders = 2.02. So 2.02 × S$92 = S$186</a:t>
            </a:r>
          </a:p>
          <a:p>
            <a:pPr marL="171450" indent="-171450">
              <a:buFont typeface="Arial"/>
              <a:buChar char="•"/>
            </a:pPr>
            <a:r>
              <a:rPr lang="en-US"/>
              <a:t>Total: S$92 + S$186 = </a:t>
            </a:r>
            <a:r>
              <a:rPr lang="en-US" b="1"/>
              <a:t>S$278</a:t>
            </a:r>
            <a:endParaRPr lang="en-US"/>
          </a:p>
          <a:p>
            <a:r>
              <a:rPr lang="en-US" b="1"/>
              <a:t>Where S$448 comes from ("After 2nd order"):</a:t>
            </a:r>
            <a:endParaRPr lang="en-US"/>
          </a:p>
          <a:p>
            <a:pPr marL="171450" indent="-171450">
              <a:buFont typeface="Arial"/>
              <a:buChar char="•"/>
            </a:pPr>
            <a:r>
              <a:rPr lang="en-US"/>
              <a:t>Already received: S$92 × 2 = S$184</a:t>
            </a:r>
          </a:p>
          <a:p>
            <a:pPr marL="171450" indent="-171450">
              <a:buFont typeface="Arial"/>
              <a:buChar char="•"/>
            </a:pPr>
            <a:r>
              <a:rPr lang="en-US"/>
              <a:t>Expected future: now the chain starts at 2→3 (67.3%), which is a higher conversion rate. Expected future orders = 2.85. So 2.85 × S$92 = S$263</a:t>
            </a:r>
          </a:p>
          <a:p>
            <a:pPr marL="171450" indent="-171450">
              <a:buFont typeface="Arial"/>
              <a:buChar char="•"/>
            </a:pPr>
            <a:r>
              <a:rPr lang="en-US"/>
              <a:t>Total: S$184 + S$263 = </a:t>
            </a:r>
            <a:r>
              <a:rPr lang="en-US" b="1"/>
              <a:t>S$448</a:t>
            </a:r>
            <a:r>
              <a:rPr lang="en-US"/>
              <a:t> (note: slight rounding difference gives S$447 technically, shown as S$448)</a:t>
            </a:r>
          </a:p>
          <a:p>
            <a:r>
              <a:rPr lang="en-US" b="1"/>
              <a:t>Where +S$170 and +61% come from:</a:t>
            </a:r>
            <a:r>
              <a:rPr lang="en-US"/>
              <a:t> S$448 − S$278 = </a:t>
            </a:r>
            <a:r>
              <a:rPr lang="en-US" b="1"/>
              <a:t>S$170 more</a:t>
            </a:r>
            <a:r>
              <a:rPr lang="en-US"/>
              <a:t> expected lifetime value the moment the 2nd purchase is triggered. S$170 ÷ S$278 = </a:t>
            </a:r>
            <a:r>
              <a:rPr lang="en-US" b="1"/>
              <a:t>61% increase</a:t>
            </a:r>
            <a:r>
              <a:rPr lang="en-US"/>
              <a:t>.</a:t>
            </a:r>
          </a:p>
          <a:p>
            <a:r>
              <a:rPr lang="en-US"/>
              <a:t>This is the core insight: triggering a 2nd purchase doesn't just give you S$92 today — it unlocks S$170 in total statistical lifetime value because that customer now converts at much higher rates for every future purchase.</a:t>
            </a:r>
          </a:p>
          <a:p>
            <a:r>
              <a:rPr lang="en-US" b="1"/>
              <a:t>S$576, S$676, S$790</a:t>
            </a:r>
            <a:r>
              <a:rPr lang="en-US"/>
              <a:t> follow the same logic — each stage starts the future chain at a higher conversion rate, so expected LTV keeps growing.</a:t>
            </a:r>
          </a:p>
          <a:p>
            <a:endParaRPr lang="en-US">
              <a:latin typeface="Aptos"/>
              <a:ea typeface="Calibri"/>
              <a:cs typeface="Calibri"/>
            </a:endParaRPr>
          </a:p>
          <a:p>
            <a:endParaRPr lang="en-US">
              <a:latin typeface="Aptos"/>
              <a:ea typeface="Calibri"/>
              <a:cs typeface="Calibri"/>
            </a:endParaRPr>
          </a:p>
          <a:p>
            <a:r>
              <a:rPr lang="en-US"/>
              <a:t>"The previous slide told us when customers come back. These two charts tell us what it costs us when they don't — and what we gain when they do.</a:t>
            </a:r>
          </a:p>
          <a:p>
            <a:r>
              <a:rPr lang="en-US"/>
              <a:t>The left chart is a survival curve. It starts at 32% — that's the overall chance any first-time buyer ever returns, measured across all 13,780 customers in our data. But that probability isn't fixed. It declines every single day that passes without a second order.</a:t>
            </a:r>
          </a:p>
          <a:p>
            <a:r>
              <a:rPr lang="en-US"/>
              <a:t>By Day 60, it's already down to 19.2%. By Day 180 — just six months after the first order — it's only 11.4%. That's a two-thirds drop. And crucially, it barely moves after that. So after six months, a customer is essentially gone.</a:t>
            </a:r>
          </a:p>
          <a:p>
            <a:r>
              <a:rPr lang="en-US"/>
              <a:t>The right chart shows why this matters in dollar terms. A customer who has just made their first purchase is worth S$278 in expected lifetime value — that's the S$92 already spent plus the statistical value of all future orders they're likely to place.</a:t>
            </a:r>
          </a:p>
          <a:p>
            <a:r>
              <a:rPr lang="en-US"/>
              <a:t>But the moment they make a second purchase, that jumps to S$448. That's an increase of S$170, or 61%. Why such a big jump? Because customers who buy twice are dramatically more likely to buy a third time — 67% of them do. And 75% of those go on to a fourth. The loyalty pattern compounds.</a:t>
            </a:r>
          </a:p>
          <a:p>
            <a:r>
              <a:rPr lang="en-US"/>
              <a:t>So the question isn't just 'can we get customers to come back?' It's 'can we get them back before Day 60, while we still have a 19% chance of winning them — and unlock 61% more value in the process?'</a:t>
            </a:r>
          </a:p>
          <a:p>
            <a:r>
              <a:rPr lang="en-US"/>
              <a:t>That's exactly what the next slide quantifies."</a:t>
            </a:r>
          </a:p>
          <a:p>
            <a:endParaRPr lang="en-US">
              <a:latin typeface="Aptos"/>
              <a:ea typeface="Calibri"/>
              <a:cs typeface="Calibri"/>
            </a:endParaRPr>
          </a:p>
          <a:p>
            <a:endParaRPr lang="en-US">
              <a:latin typeface="Aptos"/>
              <a:ea typeface="Calibri"/>
              <a:cs typeface="Calibri"/>
            </a:endParaRPr>
          </a:p>
          <a:p>
            <a:endParaRPr lang="en-US">
              <a:latin typeface="Aptos"/>
              <a:ea typeface="Calibri"/>
              <a:cs typeface="Calibri"/>
            </a:endParaRPr>
          </a:p>
          <a:p>
            <a:r>
              <a:rPr lang="en-US">
                <a:latin typeface="Aptos"/>
                <a:ea typeface="Calibri"/>
                <a:cs typeface="Calibri"/>
              </a:rPr>
              <a:t>Note:</a:t>
            </a:r>
          </a:p>
          <a:p>
            <a:r>
              <a:rPr lang="en-US" b="1"/>
              <a:t>32.4% of ALL customers will ever return.</a:t>
            </a:r>
            <a:endParaRPr lang="en-US"/>
          </a:p>
          <a:p>
            <a:r>
              <a:rPr lang="en-US"/>
              <a:t>So out of everyone who ever bought from </a:t>
            </a:r>
            <a:r>
              <a:rPr lang="en-US" err="1"/>
              <a:t>LushProtein</a:t>
            </a:r>
            <a:r>
              <a:rPr lang="en-US"/>
              <a:t>, 32.4% eventually come back. That is the whole returner pool.</a:t>
            </a:r>
          </a:p>
          <a:p>
            <a:r>
              <a:rPr lang="en-US" b="1"/>
              <a:t>By Day 60, 40% of THAT 32.4% have already come back.</a:t>
            </a:r>
            <a:endParaRPr lang="en-US"/>
          </a:p>
          <a:p>
            <a:r>
              <a:rPr lang="en-US"/>
              <a:t>So 60% of the 32.4% are still "out there" — they haven't returned yet.</a:t>
            </a:r>
          </a:p>
          <a:p>
            <a:r>
              <a:rPr lang="en-US"/>
              <a:t>60% of 32.4% = </a:t>
            </a:r>
            <a:r>
              <a:rPr lang="en-US" b="1"/>
              <a:t>19.2%</a:t>
            </a:r>
            <a:endParaRPr lang="en-US"/>
          </a:p>
          <a:p>
            <a:endParaRPr lang="en-US">
              <a:latin typeface="Aptos"/>
              <a:ea typeface="Calibri"/>
              <a:cs typeface="Calibri"/>
            </a:endParaRPr>
          </a:p>
          <a:p>
            <a:br>
              <a:rPr lang="en-US">
                <a:latin typeface="Aptos"/>
                <a:ea typeface="Calibri"/>
                <a:cs typeface="Calibri"/>
              </a:rPr>
            </a:br>
            <a:r>
              <a:rPr lang="en-US"/>
              <a:t>So What Does 19.2% Actually Mean?</a:t>
            </a:r>
            <a:endParaRPr lang="en-US">
              <a:latin typeface="Aptos"/>
              <a:ea typeface="Calibri"/>
              <a:cs typeface="Calibri"/>
            </a:endParaRPr>
          </a:p>
          <a:p>
            <a:r>
              <a:rPr lang="en-US" b="1"/>
              <a:t>"If I pick any random customer who hasn't returned by Day 60, there is a 19.2% chance they will ever come back."</a:t>
            </a:r>
            <a:endParaRPr lang="en-US"/>
          </a:p>
          <a:p>
            <a:r>
              <a:rPr lang="en-US"/>
              <a:t>Compare that to Day 0 when it was 32.4%. You've already lost nearly half your chances, just by letting 60 days pass.</a:t>
            </a:r>
          </a:p>
          <a:p>
            <a:endParaRPr lang="en-US">
              <a:latin typeface="Aptos"/>
              <a:ea typeface="Calibri"/>
              <a:cs typeface="Calibri"/>
            </a:endParaRPr>
          </a:p>
          <a:p>
            <a:endParaRPr lang="en-US">
              <a:latin typeface="Aptos"/>
              <a:ea typeface="Calibri"/>
              <a:cs typeface="Calibri"/>
            </a:endParaRPr>
          </a:p>
          <a:p>
            <a:endParaRPr lang="en-US">
              <a:latin typeface="Calibri"/>
              <a:ea typeface="Calibri"/>
              <a:cs typeface="Calibri"/>
            </a:endParaRPr>
          </a:p>
        </p:txBody>
      </p:sp>
      <p:sp>
        <p:nvSpPr>
          <p:cNvPr id="4" name="Slide Number Placeholder 3"/>
          <p:cNvSpPr>
            <a:spLocks noGrp="1"/>
          </p:cNvSpPr>
          <p:nvPr>
            <p:ph type="sldNum" sz="quarter" idx="5"/>
          </p:nvPr>
        </p:nvSpPr>
        <p:spPr/>
        <p:txBody>
          <a:bodyPr/>
          <a:lstStyle/>
          <a:p>
            <a:fld id="{641A1982-EBDD-40F6-8E7C-4FEC554E49B1}" type="slidenum">
              <a:rPr lang="en-SG" smtClean="0"/>
              <a:t>7</a:t>
            </a:fld>
            <a:endParaRPr lang="en-SG"/>
          </a:p>
        </p:txBody>
      </p:sp>
    </p:spTree>
    <p:extLst>
      <p:ext uri="{BB962C8B-B14F-4D97-AF65-F5344CB8AC3E}">
        <p14:creationId xmlns:p14="http://schemas.microsoft.com/office/powerpoint/2010/main" val="34639144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Core idea: </a:t>
            </a:r>
            <a:r>
              <a:rPr lang="en-US"/>
              <a:t>"If </a:t>
            </a:r>
            <a:r>
              <a:rPr lang="en-US" err="1"/>
              <a:t>LushProtein</a:t>
            </a:r>
            <a:r>
              <a:rPr lang="en-US"/>
              <a:t> ran a </a:t>
            </a:r>
            <a:r>
              <a:rPr lang="en-US" err="1"/>
              <a:t>programme</a:t>
            </a:r>
            <a:r>
              <a:rPr lang="en-US"/>
              <a:t> to bring back customers who bought once and never returned... how much money could that be worth?"</a:t>
            </a:r>
            <a:endParaRPr lang="en-US">
              <a:latin typeface="Calibri"/>
              <a:ea typeface="Calibri"/>
              <a:cs typeface="Calibri"/>
            </a:endParaRPr>
          </a:p>
          <a:p>
            <a:endParaRPr lang="en-US">
              <a:latin typeface="Calibri"/>
              <a:ea typeface="Calibri"/>
              <a:cs typeface="Calibri"/>
            </a:endParaRPr>
          </a:p>
          <a:p>
            <a:r>
              <a:rPr lang="en-US">
                <a:latin typeface="Calibri"/>
                <a:ea typeface="Calibri"/>
                <a:cs typeface="Calibri"/>
              </a:rPr>
              <a:t>4.1k comes from </a:t>
            </a:r>
            <a:r>
              <a:rPr lang="en-US"/>
              <a:t>03_cohort_retention_heatmap.csv </a:t>
            </a:r>
            <a:endParaRPr lang="en-US">
              <a:latin typeface="Calibri"/>
              <a:ea typeface="Calibri"/>
              <a:cs typeface="Calibri"/>
            </a:endParaRPr>
          </a:p>
          <a:p>
            <a:r>
              <a:rPr lang="en-US"/>
              <a:t>2024 cohort had 1,392 customers who never returned, 2025 had 2,752. 2024 before is too old. Not realistic to win back. 2026 is too fresh. Should not be counted as "lost" yet. </a:t>
            </a:r>
            <a:br>
              <a:rPr lang="en-US">
                <a:cs typeface="+mn-lt"/>
              </a:rPr>
            </a:br>
            <a:br>
              <a:rPr lang="en-US">
                <a:cs typeface="+mn-lt"/>
              </a:rPr>
            </a:br>
            <a:br>
              <a:rPr lang="en-US">
                <a:cs typeface="+mn-lt"/>
              </a:rPr>
            </a:br>
            <a:r>
              <a:rPr lang="en-US"/>
              <a:t>Target:</a:t>
            </a:r>
            <a:br>
              <a:rPr lang="en-US">
                <a:cs typeface="+mn-lt"/>
              </a:rPr>
            </a:br>
            <a:r>
              <a:rPr lang="en-US"/>
              <a:t>The current rates (14–17%): From - 03_cohort_retention_heatmap.csv. </a:t>
            </a:r>
          </a:p>
          <a:p>
            <a:pPr marL="171450" indent="-171450">
              <a:buFont typeface="Arial"/>
              <a:buChar char="•"/>
            </a:pPr>
            <a:r>
              <a:rPr lang="en-US"/>
              <a:t>2024 cohort: 338 / 2,015 customers came back within 60 days = </a:t>
            </a:r>
            <a:r>
              <a:rPr lang="en-US" b="1"/>
              <a:t>16.8%</a:t>
            </a:r>
            <a:endParaRPr lang="en-US"/>
          </a:p>
          <a:p>
            <a:pPr marL="171450" indent="-171450">
              <a:buFont typeface="Arial"/>
              <a:buChar char="•"/>
            </a:pPr>
            <a:r>
              <a:rPr lang="en-US"/>
              <a:t>2025 cohort: 519 / 3,524 came back within 60 days = </a:t>
            </a:r>
            <a:r>
              <a:rPr lang="en-US" b="1"/>
              <a:t>14.7%</a:t>
            </a:r>
            <a:endParaRPr lang="en-US"/>
          </a:p>
          <a:p>
            <a:r>
              <a:rPr lang="en-US" b="1">
                <a:cs typeface="+mn-lt"/>
              </a:rPr>
              <a:t>So only 15 out of 100 customers will respond to the program (Assumption based on history)</a:t>
            </a:r>
          </a:p>
          <a:p>
            <a:endParaRPr lang="en-US" b="1">
              <a:cs typeface="+mn-lt"/>
            </a:endParaRPr>
          </a:p>
          <a:p>
            <a:r>
              <a:rPr lang="en-US"/>
              <a:t>Revenue per Customer: </a:t>
            </a:r>
          </a:p>
          <a:p>
            <a:r>
              <a:rPr lang="en-US"/>
              <a:t>$92 for first purchase (in 07_lens1_decomposition.csv). 2nd purchase is 92 again. But once 2nd purchase is in, how many more orders can we statistically expect? Using the table in 09_lens3_inter_purchase_time.csv, we can expect 2.85 orders. From there, we do first order + 92x2.85 = S$356~</a:t>
            </a:r>
          </a:p>
          <a:p>
            <a:endParaRPr lang="en-US" b="1"/>
          </a:p>
          <a:p>
            <a:endParaRPr lang="en-US" b="1"/>
          </a:p>
          <a:p>
            <a:r>
              <a:rPr lang="en-US" b="1"/>
              <a:t>Script:</a:t>
            </a:r>
          </a:p>
          <a:p>
            <a:r>
              <a:rPr lang="en-US" b="1"/>
              <a:t>"We have about 4,100 customers from 2024 and 2025 who bought once and never came back. That's the pool we're targeting.</a:t>
            </a:r>
          </a:p>
          <a:p>
            <a:r>
              <a:rPr lang="en-US" b="1"/>
              <a:t>A post-purchase </a:t>
            </a:r>
            <a:r>
              <a:rPr lang="en-US" b="1" err="1"/>
              <a:t>programme</a:t>
            </a:r>
            <a:r>
              <a:rPr lang="en-US" b="1"/>
              <a:t>, emails at Day 7, 30 and 45, with a loyalty incentive — should conservatively convert 15% of them. That's based on real data: we're currently getting 14–17% without any </a:t>
            </a:r>
            <a:r>
              <a:rPr lang="en-US" b="1" err="1"/>
              <a:t>programme</a:t>
            </a:r>
            <a:r>
              <a:rPr lang="en-US" b="1"/>
              <a:t>, and our best years hit 22%.</a:t>
            </a:r>
          </a:p>
          <a:p>
            <a:r>
              <a:rPr lang="en-US" b="1"/>
              <a:t>Each customer who comes back is worth S$356 in lifetime value, not just the S$92 order, but the chain of future orders that follows, because customers who buy twice convert at 67–80% for every subsequent purchase.</a:t>
            </a:r>
          </a:p>
          <a:p>
            <a:r>
              <a:rPr lang="en-US" b="1"/>
              <a:t>615 customers times S$356 equals roughly S$219,000. That's the opportunity sitting in our customer base right now."</a:t>
            </a:r>
          </a:p>
          <a:p>
            <a:endParaRPr lang="en-US" b="1">
              <a:cs typeface="+mn-lt"/>
            </a:endParaRPr>
          </a:p>
          <a:p>
            <a:endParaRPr lang="en-US">
              <a:cs typeface="+mn-lt"/>
            </a:endParaRPr>
          </a:p>
          <a:p>
            <a:br>
              <a:rPr lang="en-US">
                <a:cs typeface="+mn-lt"/>
              </a:rPr>
            </a:br>
            <a:endParaRPr lang="en-US"/>
          </a:p>
          <a:p>
            <a:endParaRPr lang="en-US">
              <a:latin typeface="Aptos"/>
              <a:ea typeface="Calibri"/>
              <a:cs typeface="Calibri"/>
            </a:endParaRPr>
          </a:p>
        </p:txBody>
      </p:sp>
      <p:sp>
        <p:nvSpPr>
          <p:cNvPr id="4" name="Slide Number Placeholder 3"/>
          <p:cNvSpPr>
            <a:spLocks noGrp="1"/>
          </p:cNvSpPr>
          <p:nvPr>
            <p:ph type="sldNum" sz="quarter" idx="5"/>
          </p:nvPr>
        </p:nvSpPr>
        <p:spPr/>
        <p:txBody>
          <a:bodyPr/>
          <a:lstStyle/>
          <a:p>
            <a:fld id="{641A1982-EBDD-40F6-8E7C-4FEC554E49B1}" type="slidenum">
              <a:rPr lang="en-SG" smtClean="0"/>
              <a:t>8</a:t>
            </a:fld>
            <a:endParaRPr lang="en-SG"/>
          </a:p>
        </p:txBody>
      </p:sp>
    </p:spTree>
    <p:extLst>
      <p:ext uri="{BB962C8B-B14F-4D97-AF65-F5344CB8AC3E}">
        <p14:creationId xmlns:p14="http://schemas.microsoft.com/office/powerpoint/2010/main" val="27751141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 far we've talked about </a:t>
            </a:r>
            <a:r>
              <a:rPr lang="en-US" i="1"/>
              <a:t>when</a:t>
            </a:r>
            <a:r>
              <a:rPr lang="en-US"/>
              <a:t> customers come back. </a:t>
            </a:r>
          </a:p>
          <a:p>
            <a:endParaRPr lang="en-US"/>
          </a:p>
          <a:p>
            <a:r>
              <a:rPr lang="en-US"/>
              <a:t>Now I want to talk about </a:t>
            </a:r>
            <a:r>
              <a:rPr lang="en-US" i="1"/>
              <a:t>how broadly they buy</a:t>
            </a:r>
            <a:r>
              <a:rPr lang="en-US"/>
              <a:t> </a:t>
            </a:r>
            <a:r>
              <a:rPr lang="en-US" i="1"/>
              <a:t>-</a:t>
            </a:r>
            <a:r>
              <a:rPr lang="en-US"/>
              <a:t> because the number of product categories a customer engages with is one of the strongest predictors of loyalty in our data.</a:t>
            </a:r>
          </a:p>
          <a:p>
            <a:endParaRPr lang="en-US"/>
          </a:p>
          <a:p>
            <a:r>
              <a:rPr lang="en-US"/>
              <a:t>One category: 23.6% repeat rate, S$170 LTV. Two categories: 39.7% repeat. Three: 65.5% repeat, S$470 LTV. Four or more: 89% repeat, S$743 LTV. Moving a customer from one category to three roughly triples both repeat rate and LTV.</a:t>
            </a:r>
          </a:p>
          <a:p>
            <a:r>
              <a:rPr lang="en-US"/>
              <a:t>This points to two levers - cross-sell and a product recommender. Single-category customers are our highest-churn segment, and broadening their basket is where the LTV math points. We'd recommend prioritizing this as a workstream and running a controlled test to confirm the lift.</a:t>
            </a:r>
          </a:p>
          <a:p>
            <a:endParaRPr lang="en-US"/>
          </a:p>
        </p:txBody>
      </p:sp>
      <p:sp>
        <p:nvSpPr>
          <p:cNvPr id="4" name="Slide Number Placeholder 3"/>
          <p:cNvSpPr>
            <a:spLocks noGrp="1"/>
          </p:cNvSpPr>
          <p:nvPr>
            <p:ph type="sldNum" sz="quarter" idx="5"/>
          </p:nvPr>
        </p:nvSpPr>
        <p:spPr/>
        <p:txBody>
          <a:bodyPr/>
          <a:lstStyle/>
          <a:p>
            <a:fld id="{641A1982-EBDD-40F6-8E7C-4FEC554E49B1}" type="slidenum">
              <a:rPr lang="en-SG" smtClean="0"/>
              <a:t>9</a:t>
            </a:fld>
            <a:endParaRPr lang="en-SG"/>
          </a:p>
        </p:txBody>
      </p:sp>
    </p:spTree>
    <p:extLst>
      <p:ext uri="{BB962C8B-B14F-4D97-AF65-F5344CB8AC3E}">
        <p14:creationId xmlns:p14="http://schemas.microsoft.com/office/powerpoint/2010/main" val="4724269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E4EE3C-E648-1AA8-CA4E-4EA78677DD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1A8147-2617-D26A-4C3B-EE8150C7C2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CA80C0-E672-726B-E181-EBD0B854C6CC}"/>
              </a:ext>
            </a:extLst>
          </p:cNvPr>
          <p:cNvSpPr>
            <a:spLocks noGrp="1"/>
          </p:cNvSpPr>
          <p:nvPr>
            <p:ph type="body" idx="1"/>
          </p:nvPr>
        </p:nvSpPr>
        <p:spPr/>
        <p:txBody>
          <a:bodyPr/>
          <a:lstStyle/>
          <a:p>
            <a:r>
              <a:rPr lang="en-US">
                <a:solidFill>
                  <a:srgbClr val="111111"/>
                </a:solidFill>
              </a:rPr>
              <a:t>We've been treating our customer base as one business. The data says it's not — channel quality varies wildly, and one channel is dragging the whole average down.</a:t>
            </a:r>
            <a:endParaRPr lang="en-US"/>
          </a:p>
          <a:p>
            <a:r>
              <a:rPr lang="en-US">
                <a:solidFill>
                  <a:srgbClr val="111111"/>
                </a:solidFill>
              </a:rPr>
              <a:t>Subscription and Direct/Organic are our healthy customer groups - 40.9% and 33.5% repeat rates, both above our 32.4% average. Below the line: Paid Social, Affiliate, Email, and Marketplace. Unfortunately, Marketplace is the biggest of those underperformers as they have 15% of our customer base, 14.4% repeat rate, S$115 LTV against S$198 on our own website.</a:t>
            </a:r>
            <a:endParaRPr lang="en-US"/>
          </a:p>
          <a:p>
            <a:endParaRPr lang="en-US">
              <a:solidFill>
                <a:srgbClr val="111111"/>
              </a:solidFill>
            </a:endParaRPr>
          </a:p>
          <a:p>
            <a:r>
              <a:rPr lang="en-US">
                <a:solidFill>
                  <a:srgbClr val="111111"/>
                </a:solidFill>
              </a:rPr>
              <a:t>But here's what makes it strategic: marketplace customers are locked out of subscription — 0% subscribed, because the platform doesn't support it. So we're paying marketplace fees to acquire customers who are structurally weaker </a:t>
            </a:r>
            <a:r>
              <a:rPr lang="en-US" i="1">
                <a:solidFill>
                  <a:srgbClr val="111111"/>
                </a:solidFill>
              </a:rPr>
              <a:t>and</a:t>
            </a:r>
            <a:r>
              <a:rPr lang="en-US">
                <a:solidFill>
                  <a:srgbClr val="111111"/>
                </a:solidFill>
              </a:rPr>
              <a:t> cannot access our highest-LTV behavior. </a:t>
            </a:r>
            <a:r>
              <a:rPr lang="en-US" b="1">
                <a:solidFill>
                  <a:srgbClr val="111111"/>
                </a:solidFill>
              </a:rPr>
              <a:t>Total addressable LTV gap: S$176,000.</a:t>
            </a:r>
            <a:endParaRPr lang="en-US"/>
          </a:p>
          <a:p>
            <a:endParaRPr lang="en-US">
              <a:solidFill>
                <a:srgbClr val="111111"/>
              </a:solidFill>
            </a:endParaRPr>
          </a:p>
          <a:p>
            <a:r>
              <a:rPr lang="en-US">
                <a:solidFill>
                  <a:srgbClr val="111111"/>
                </a:solidFill>
              </a:rPr>
              <a:t>Our channel recommendation is a three-step shift.</a:t>
            </a:r>
            <a:endParaRPr lang="en-US"/>
          </a:p>
          <a:p>
            <a:r>
              <a:rPr lang="en-US" b="1">
                <a:solidFill>
                  <a:srgbClr val="111111"/>
                </a:solidFill>
              </a:rPr>
              <a:t>One: cap paid promotion spend on Shopee and Lazada. </a:t>
            </a:r>
            <a:r>
              <a:rPr lang="en-US">
                <a:solidFill>
                  <a:srgbClr val="111111"/>
                </a:solidFill>
              </a:rPr>
              <a:t>Keep listings live, but stop spending acquisition budget on a S$115-LTV channel when our website produces S$198 - a 72% gap per dollar.</a:t>
            </a:r>
            <a:endParaRPr lang="en-US"/>
          </a:p>
          <a:p>
            <a:r>
              <a:rPr lang="en-US" b="1">
                <a:solidFill>
                  <a:srgbClr val="111111"/>
                </a:solidFill>
              </a:rPr>
              <a:t>Two: redirect that budget to brand-keyword retargeting</a:t>
            </a:r>
            <a:r>
              <a:rPr lang="en-US">
                <a:solidFill>
                  <a:srgbClr val="111111"/>
                </a:solidFill>
              </a:rPr>
              <a:t> - intercept high-intent searchers on Google and Meta before they return to the marketplace.</a:t>
            </a:r>
            <a:endParaRPr lang="en-US"/>
          </a:p>
          <a:p>
            <a:r>
              <a:rPr lang="en-US" b="1">
                <a:solidFill>
                  <a:srgbClr val="111111"/>
                </a:solidFill>
              </a:rPr>
              <a:t>Three: keep one or two hero SKUs exclusive to our own website.</a:t>
            </a:r>
            <a:r>
              <a:rPr lang="en-US">
                <a:solidFill>
                  <a:srgbClr val="111111"/>
                </a:solidFill>
              </a:rPr>
              <a:t> Make the full range a reason to come to us directly. We'd pilot with a single SKU first to confirm migration before scaling.</a:t>
            </a:r>
            <a:endParaRPr lang="en-US"/>
          </a:p>
          <a:p>
            <a:endParaRPr lang="en-GB">
              <a:solidFill>
                <a:srgbClr val="111111"/>
              </a:solidFill>
              <a:ea typeface="Calibri"/>
              <a:cs typeface="Calibri"/>
            </a:endParaRPr>
          </a:p>
          <a:p>
            <a:endParaRPr lang="en-US">
              <a:solidFill>
                <a:srgbClr val="000000"/>
              </a:solidFill>
              <a:latin typeface="Aptos"/>
              <a:ea typeface="Calibri"/>
              <a:cs typeface="Calibri"/>
            </a:endParaRPr>
          </a:p>
        </p:txBody>
      </p:sp>
      <p:sp>
        <p:nvSpPr>
          <p:cNvPr id="4" name="Slide Number Placeholder 3">
            <a:extLst>
              <a:ext uri="{FF2B5EF4-FFF2-40B4-BE49-F238E27FC236}">
                <a16:creationId xmlns:a16="http://schemas.microsoft.com/office/drawing/2014/main" id="{43EF40B7-BF3D-D5FB-E31A-6A4F0775616A}"/>
              </a:ext>
            </a:extLst>
          </p:cNvPr>
          <p:cNvSpPr>
            <a:spLocks noGrp="1"/>
          </p:cNvSpPr>
          <p:nvPr>
            <p:ph type="sldNum" sz="quarter" idx="5"/>
          </p:nvPr>
        </p:nvSpPr>
        <p:spPr/>
        <p:txBody>
          <a:bodyPr/>
          <a:lstStyle/>
          <a:p>
            <a:fld id="{641A1982-EBDD-40F6-8E7C-4FEC554E49B1}" type="slidenum">
              <a:rPr lang="en-SG" smtClean="0"/>
              <a:t>10</a:t>
            </a:fld>
            <a:endParaRPr lang="en-SG"/>
          </a:p>
        </p:txBody>
      </p:sp>
    </p:spTree>
    <p:extLst>
      <p:ext uri="{BB962C8B-B14F-4D97-AF65-F5344CB8AC3E}">
        <p14:creationId xmlns:p14="http://schemas.microsoft.com/office/powerpoint/2010/main" val="35717948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Discounting strategy: In 2025, assuming revenue per order recovered partially to $150, net revenue in 2025 would increase by S$528K (&gt;50%) </a:t>
            </a:r>
            <a:endParaRPr lang="en-SG" sz="1200"/>
          </a:p>
          <a:p>
            <a:endParaRPr lang="en-SG"/>
          </a:p>
        </p:txBody>
      </p:sp>
      <p:sp>
        <p:nvSpPr>
          <p:cNvPr id="4" name="Slide Number Placeholder 3"/>
          <p:cNvSpPr>
            <a:spLocks noGrp="1"/>
          </p:cNvSpPr>
          <p:nvPr>
            <p:ph type="sldNum" sz="quarter" idx="5"/>
          </p:nvPr>
        </p:nvSpPr>
        <p:spPr/>
        <p:txBody>
          <a:bodyPr/>
          <a:lstStyle/>
          <a:p>
            <a:fld id="{641A1982-EBDD-40F6-8E7C-4FEC554E49B1}" type="slidenum">
              <a:rPr lang="en-SG" smtClean="0"/>
              <a:t>11</a:t>
            </a:fld>
            <a:endParaRPr lang="en-SG"/>
          </a:p>
        </p:txBody>
      </p:sp>
    </p:spTree>
    <p:extLst>
      <p:ext uri="{BB962C8B-B14F-4D97-AF65-F5344CB8AC3E}">
        <p14:creationId xmlns:p14="http://schemas.microsoft.com/office/powerpoint/2010/main" val="228912008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A8744C0F-7EE4-21AF-7F76-F098E5AB45AE}"/>
              </a:ext>
            </a:extLst>
          </p:cNvPr>
          <p:cNvSpPr>
            <a:spLocks noGrp="1"/>
          </p:cNvSpPr>
          <p:nvPr>
            <p:ph type="dt" sz="half" idx="10"/>
          </p:nvPr>
        </p:nvSpPr>
        <p:spPr/>
        <p:txBody>
          <a:bodyPr/>
          <a:lstStyle/>
          <a:p>
            <a:fld id="{7E69F2A1-BC7B-4B9E-8127-8E0179076787}" type="datetimeFigureOut">
              <a:rPr lang="en-SG" smtClean="0"/>
              <a:t>22/5/2026</a:t>
            </a:fld>
            <a:endParaRPr lang="en-SG"/>
          </a:p>
        </p:txBody>
      </p:sp>
      <p:sp>
        <p:nvSpPr>
          <p:cNvPr id="5" name="Footer Placeholder 4">
            <a:extLst>
              <a:ext uri="{FF2B5EF4-FFF2-40B4-BE49-F238E27FC236}">
                <a16:creationId xmlns:a16="http://schemas.microsoft.com/office/drawing/2014/main" id="{A22BB369-BCFB-F733-610A-B80D001F8EEE}"/>
              </a:ext>
            </a:extLst>
          </p:cNvPr>
          <p:cNvSpPr>
            <a:spLocks noGrp="1"/>
          </p:cNvSpPr>
          <p:nvPr>
            <p:ph type="ftr" sz="quarter" idx="11"/>
          </p:nvPr>
        </p:nvSpPr>
        <p:spPr/>
        <p:txBody>
          <a:bodyPr/>
          <a:lstStyle/>
          <a:p>
            <a:endParaRPr lang="en-SG"/>
          </a:p>
        </p:txBody>
      </p:sp>
      <p:sp>
        <p:nvSpPr>
          <p:cNvPr id="7" name="Rectangle 6">
            <a:extLst>
              <a:ext uri="{FF2B5EF4-FFF2-40B4-BE49-F238E27FC236}">
                <a16:creationId xmlns:a16="http://schemas.microsoft.com/office/drawing/2014/main" id="{0CEF64F6-318A-61B9-642B-082372C0C7B8}"/>
              </a:ext>
            </a:extLst>
          </p:cNvPr>
          <p:cNvSpPr/>
          <p:nvPr userDrawn="1"/>
        </p:nvSpPr>
        <p:spPr>
          <a:xfrm>
            <a:off x="8610600" y="0"/>
            <a:ext cx="3581401" cy="6858000"/>
          </a:xfrm>
          <a:prstGeom prst="rect">
            <a:avLst/>
          </a:prstGeom>
          <a:solidFill>
            <a:srgbClr val="F9F9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pic>
        <p:nvPicPr>
          <p:cNvPr id="9" name="Picture 8">
            <a:extLst>
              <a:ext uri="{FF2B5EF4-FFF2-40B4-BE49-F238E27FC236}">
                <a16:creationId xmlns:a16="http://schemas.microsoft.com/office/drawing/2014/main" id="{D76BE73F-411C-C415-34CB-AA7F2469D982}"/>
              </a:ext>
            </a:extLst>
          </p:cNvPr>
          <p:cNvPicPr>
            <a:picLocks noChangeAspect="1"/>
          </p:cNvPicPr>
          <p:nvPr userDrawn="1"/>
        </p:nvPicPr>
        <p:blipFill>
          <a:blip r:embed="rId2"/>
          <a:srcRect l="11603"/>
          <a:stretch>
            <a:fillRect/>
          </a:stretch>
        </p:blipFill>
        <p:spPr>
          <a:xfrm>
            <a:off x="8610600" y="3591339"/>
            <a:ext cx="3581401" cy="3266661"/>
          </a:xfrm>
          <a:prstGeom prst="rect">
            <a:avLst/>
          </a:prstGeom>
        </p:spPr>
      </p:pic>
      <p:sp>
        <p:nvSpPr>
          <p:cNvPr id="2" name="Title 1">
            <a:extLst>
              <a:ext uri="{FF2B5EF4-FFF2-40B4-BE49-F238E27FC236}">
                <a16:creationId xmlns:a16="http://schemas.microsoft.com/office/drawing/2014/main" id="{B7EB7ED3-B2D5-0AE0-1734-A3DD19DF29C6}"/>
              </a:ext>
            </a:extLst>
          </p:cNvPr>
          <p:cNvSpPr>
            <a:spLocks noGrp="1"/>
          </p:cNvSpPr>
          <p:nvPr>
            <p:ph type="ctrTitle"/>
          </p:nvPr>
        </p:nvSpPr>
        <p:spPr>
          <a:xfrm>
            <a:off x="419652" y="711546"/>
            <a:ext cx="9453218" cy="2387600"/>
          </a:xfrm>
        </p:spPr>
        <p:txBody>
          <a:bodyPr anchor="b"/>
          <a:lstStyle>
            <a:lvl1pPr algn="l">
              <a:defRPr sz="4400" b="1"/>
            </a:lvl1pPr>
          </a:lstStyle>
          <a:p>
            <a:r>
              <a:rPr lang="en-US"/>
              <a:t>Click to edit Master title style</a:t>
            </a:r>
            <a:endParaRPr lang="en-SG"/>
          </a:p>
        </p:txBody>
      </p:sp>
      <p:sp>
        <p:nvSpPr>
          <p:cNvPr id="3" name="Subtitle 2">
            <a:extLst>
              <a:ext uri="{FF2B5EF4-FFF2-40B4-BE49-F238E27FC236}">
                <a16:creationId xmlns:a16="http://schemas.microsoft.com/office/drawing/2014/main" id="{6E906787-8F16-B0AD-0691-9FE7083F7D5F}"/>
              </a:ext>
            </a:extLst>
          </p:cNvPr>
          <p:cNvSpPr>
            <a:spLocks noGrp="1"/>
          </p:cNvSpPr>
          <p:nvPr>
            <p:ph type="subTitle" idx="1"/>
          </p:nvPr>
        </p:nvSpPr>
        <p:spPr>
          <a:xfrm>
            <a:off x="477078" y="4202803"/>
            <a:ext cx="9144000" cy="1655762"/>
          </a:xfrm>
        </p:spPr>
        <p:txBody>
          <a:bodyPr/>
          <a:lstStyle>
            <a:lvl1pPr marL="0" indent="0" algn="l">
              <a:buNone/>
              <a:defRPr sz="240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SG"/>
          </a:p>
        </p:txBody>
      </p:sp>
      <p:sp>
        <p:nvSpPr>
          <p:cNvPr id="11" name="TextBox 10">
            <a:extLst>
              <a:ext uri="{FF2B5EF4-FFF2-40B4-BE49-F238E27FC236}">
                <a16:creationId xmlns:a16="http://schemas.microsoft.com/office/drawing/2014/main" id="{518835E0-63F9-3189-80EE-D6A820E42A47}"/>
              </a:ext>
            </a:extLst>
          </p:cNvPr>
          <p:cNvSpPr txBox="1"/>
          <p:nvPr userDrawn="1"/>
        </p:nvSpPr>
        <p:spPr>
          <a:xfrm>
            <a:off x="417322" y="1375151"/>
            <a:ext cx="1792478" cy="276999"/>
          </a:xfrm>
          <a:prstGeom prst="rect">
            <a:avLst/>
          </a:prstGeom>
          <a:noFill/>
        </p:spPr>
        <p:txBody>
          <a:bodyPr wrap="none" rtlCol="0">
            <a:spAutoFit/>
          </a:bodyPr>
          <a:lstStyle/>
          <a:p>
            <a:r>
              <a:rPr lang="en-US" sz="1200" b="1">
                <a:solidFill>
                  <a:schemeClr val="accent4"/>
                </a:solidFill>
              </a:rPr>
              <a:t>SMU</a:t>
            </a:r>
            <a:r>
              <a:rPr lang="en-US" sz="1200"/>
              <a:t> x </a:t>
            </a:r>
            <a:r>
              <a:rPr lang="en-US" sz="1200" b="1">
                <a:solidFill>
                  <a:srgbClr val="10B981"/>
                </a:solidFill>
              </a:rPr>
              <a:t>LUSHPROTEIN</a:t>
            </a:r>
            <a:endParaRPr lang="en-SG" sz="1200" b="1">
              <a:solidFill>
                <a:srgbClr val="10B981"/>
              </a:solidFill>
            </a:endParaRPr>
          </a:p>
        </p:txBody>
      </p:sp>
      <p:cxnSp>
        <p:nvCxnSpPr>
          <p:cNvPr id="12" name="Straight Connector 11">
            <a:extLst>
              <a:ext uri="{FF2B5EF4-FFF2-40B4-BE49-F238E27FC236}">
                <a16:creationId xmlns:a16="http://schemas.microsoft.com/office/drawing/2014/main" id="{3A519386-3029-9E16-4DE4-8159A14B0FE7}"/>
              </a:ext>
            </a:extLst>
          </p:cNvPr>
          <p:cNvCxnSpPr/>
          <p:nvPr userDrawn="1"/>
        </p:nvCxnSpPr>
        <p:spPr>
          <a:xfrm>
            <a:off x="601154" y="3253554"/>
            <a:ext cx="1188720" cy="0"/>
          </a:xfrm>
          <a:prstGeom prst="line">
            <a:avLst/>
          </a:prstGeom>
          <a:ln w="57150">
            <a:solidFill>
              <a:srgbClr val="10B98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360357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7D0ACF-E9A1-4337-CCC5-7B8E23BC16A9}"/>
              </a:ext>
            </a:extLst>
          </p:cNvPr>
          <p:cNvSpPr>
            <a:spLocks noGrp="1"/>
          </p:cNvSpPr>
          <p:nvPr>
            <p:ph type="title"/>
          </p:nvPr>
        </p:nvSpPr>
        <p:spPr/>
        <p:txBody>
          <a:bodyPr/>
          <a:lstStyle>
            <a:lvl1pPr>
              <a:defRPr sz="4000" b="1"/>
            </a:lvl1pPr>
          </a:lstStyle>
          <a:p>
            <a:r>
              <a:rPr lang="en-US"/>
              <a:t>Click to edit Master title style</a:t>
            </a:r>
            <a:endParaRPr lang="en-SG"/>
          </a:p>
        </p:txBody>
      </p:sp>
      <p:sp>
        <p:nvSpPr>
          <p:cNvPr id="3" name="Content Placeholder 2">
            <a:extLst>
              <a:ext uri="{FF2B5EF4-FFF2-40B4-BE49-F238E27FC236}">
                <a16:creationId xmlns:a16="http://schemas.microsoft.com/office/drawing/2014/main" id="{99E33F8B-2105-43DB-127D-3D0C0D96E182}"/>
              </a:ext>
            </a:extLst>
          </p:cNvPr>
          <p:cNvSpPr>
            <a:spLocks noGrp="1"/>
          </p:cNvSpPr>
          <p:nvPr>
            <p:ph idx="1"/>
          </p:nvPr>
        </p:nvSpPr>
        <p:spPr/>
        <p:txBody>
          <a:bodyPr/>
          <a:lstStyle>
            <a:lvl1pPr>
              <a:defRPr sz="1600"/>
            </a:lvl1pPr>
            <a:lvl2pPr>
              <a:defRPr sz="1400"/>
            </a:lvl2pPr>
            <a:lvl3pPr>
              <a:defRPr sz="1200"/>
            </a:lvl3pPr>
            <a:lvl4pPr>
              <a:defRPr sz="1000"/>
            </a:lvl4pPr>
            <a:lvl5pP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6BC6A049-D11E-BA5C-69FE-DBF53729229E}"/>
              </a:ext>
            </a:extLst>
          </p:cNvPr>
          <p:cNvSpPr>
            <a:spLocks noGrp="1"/>
          </p:cNvSpPr>
          <p:nvPr>
            <p:ph type="dt" sz="half" idx="10"/>
          </p:nvPr>
        </p:nvSpPr>
        <p:spPr/>
        <p:txBody>
          <a:bodyPr/>
          <a:lstStyle/>
          <a:p>
            <a:fld id="{7E69F2A1-BC7B-4B9E-8127-8E0179076787}" type="datetimeFigureOut">
              <a:rPr lang="en-SG" smtClean="0"/>
              <a:t>22/5/2026</a:t>
            </a:fld>
            <a:endParaRPr lang="en-SG"/>
          </a:p>
        </p:txBody>
      </p:sp>
      <p:sp>
        <p:nvSpPr>
          <p:cNvPr id="5" name="Footer Placeholder 4">
            <a:extLst>
              <a:ext uri="{FF2B5EF4-FFF2-40B4-BE49-F238E27FC236}">
                <a16:creationId xmlns:a16="http://schemas.microsoft.com/office/drawing/2014/main" id="{2305DBC7-6F63-B40F-8975-F4232DC806C1}"/>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633710BE-7BD9-2A61-DE1C-1738F89EF204}"/>
              </a:ext>
            </a:extLst>
          </p:cNvPr>
          <p:cNvSpPr>
            <a:spLocks noGrp="1"/>
          </p:cNvSpPr>
          <p:nvPr>
            <p:ph type="sldNum" sz="quarter" idx="12"/>
          </p:nvPr>
        </p:nvSpPr>
        <p:spPr/>
        <p:txBody>
          <a:bodyPr/>
          <a:lstStyle/>
          <a:p>
            <a:fld id="{D98BDFE4-9591-463E-BAEB-94DECB843EDF}" type="slidenum">
              <a:rPr lang="en-SG" smtClean="0"/>
              <a:t>‹#›</a:t>
            </a:fld>
            <a:endParaRPr lang="en-SG"/>
          </a:p>
        </p:txBody>
      </p:sp>
      <p:cxnSp>
        <p:nvCxnSpPr>
          <p:cNvPr id="10" name="Straight Connector 9">
            <a:extLst>
              <a:ext uri="{FF2B5EF4-FFF2-40B4-BE49-F238E27FC236}">
                <a16:creationId xmlns:a16="http://schemas.microsoft.com/office/drawing/2014/main" id="{543ECF66-179C-414A-3D87-161667BCD65B}"/>
              </a:ext>
            </a:extLst>
          </p:cNvPr>
          <p:cNvCxnSpPr/>
          <p:nvPr userDrawn="1"/>
        </p:nvCxnSpPr>
        <p:spPr>
          <a:xfrm>
            <a:off x="1002748" y="1382643"/>
            <a:ext cx="1188720" cy="0"/>
          </a:xfrm>
          <a:prstGeom prst="line">
            <a:avLst/>
          </a:prstGeom>
          <a:ln w="57150">
            <a:solidFill>
              <a:srgbClr val="10B98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763036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A8744C0F-7EE4-21AF-7F76-F098E5AB45AE}"/>
              </a:ext>
            </a:extLst>
          </p:cNvPr>
          <p:cNvSpPr>
            <a:spLocks noGrp="1"/>
          </p:cNvSpPr>
          <p:nvPr>
            <p:ph type="dt" sz="half" idx="10"/>
          </p:nvPr>
        </p:nvSpPr>
        <p:spPr/>
        <p:txBody>
          <a:bodyPr/>
          <a:lstStyle/>
          <a:p>
            <a:fld id="{7E69F2A1-BC7B-4B9E-8127-8E0179076787}" type="datetimeFigureOut">
              <a:rPr lang="en-SG" smtClean="0"/>
              <a:t>22/5/2026</a:t>
            </a:fld>
            <a:endParaRPr lang="en-SG"/>
          </a:p>
        </p:txBody>
      </p:sp>
      <p:sp>
        <p:nvSpPr>
          <p:cNvPr id="5" name="Footer Placeholder 4">
            <a:extLst>
              <a:ext uri="{FF2B5EF4-FFF2-40B4-BE49-F238E27FC236}">
                <a16:creationId xmlns:a16="http://schemas.microsoft.com/office/drawing/2014/main" id="{A22BB369-BCFB-F733-610A-B80D001F8EEE}"/>
              </a:ext>
            </a:extLst>
          </p:cNvPr>
          <p:cNvSpPr>
            <a:spLocks noGrp="1"/>
          </p:cNvSpPr>
          <p:nvPr>
            <p:ph type="ftr" sz="quarter" idx="11"/>
          </p:nvPr>
        </p:nvSpPr>
        <p:spPr/>
        <p:txBody>
          <a:bodyPr/>
          <a:lstStyle/>
          <a:p>
            <a:endParaRPr lang="en-SG"/>
          </a:p>
        </p:txBody>
      </p:sp>
      <p:sp>
        <p:nvSpPr>
          <p:cNvPr id="7" name="Rectangle 6">
            <a:extLst>
              <a:ext uri="{FF2B5EF4-FFF2-40B4-BE49-F238E27FC236}">
                <a16:creationId xmlns:a16="http://schemas.microsoft.com/office/drawing/2014/main" id="{0CEF64F6-318A-61B9-642B-082372C0C7B8}"/>
              </a:ext>
            </a:extLst>
          </p:cNvPr>
          <p:cNvSpPr/>
          <p:nvPr userDrawn="1"/>
        </p:nvSpPr>
        <p:spPr>
          <a:xfrm>
            <a:off x="8610600" y="0"/>
            <a:ext cx="3581401" cy="6858000"/>
          </a:xfrm>
          <a:prstGeom prst="rect">
            <a:avLst/>
          </a:prstGeom>
          <a:solidFill>
            <a:srgbClr val="F9F9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pic>
        <p:nvPicPr>
          <p:cNvPr id="9" name="Picture 8">
            <a:extLst>
              <a:ext uri="{FF2B5EF4-FFF2-40B4-BE49-F238E27FC236}">
                <a16:creationId xmlns:a16="http://schemas.microsoft.com/office/drawing/2014/main" id="{D76BE73F-411C-C415-34CB-AA7F2469D982}"/>
              </a:ext>
            </a:extLst>
          </p:cNvPr>
          <p:cNvPicPr>
            <a:picLocks noChangeAspect="1"/>
          </p:cNvPicPr>
          <p:nvPr userDrawn="1"/>
        </p:nvPicPr>
        <p:blipFill>
          <a:blip r:embed="rId2"/>
          <a:srcRect l="11603"/>
          <a:stretch>
            <a:fillRect/>
          </a:stretch>
        </p:blipFill>
        <p:spPr>
          <a:xfrm>
            <a:off x="8610600" y="3591339"/>
            <a:ext cx="3581401" cy="3266661"/>
          </a:xfrm>
          <a:prstGeom prst="rect">
            <a:avLst/>
          </a:prstGeom>
        </p:spPr>
      </p:pic>
      <p:cxnSp>
        <p:nvCxnSpPr>
          <p:cNvPr id="12" name="Straight Connector 11">
            <a:extLst>
              <a:ext uri="{FF2B5EF4-FFF2-40B4-BE49-F238E27FC236}">
                <a16:creationId xmlns:a16="http://schemas.microsoft.com/office/drawing/2014/main" id="{3A519386-3029-9E16-4DE4-8159A14B0FE7}"/>
              </a:ext>
            </a:extLst>
          </p:cNvPr>
          <p:cNvCxnSpPr/>
          <p:nvPr userDrawn="1"/>
        </p:nvCxnSpPr>
        <p:spPr>
          <a:xfrm>
            <a:off x="601154" y="3253554"/>
            <a:ext cx="1188720" cy="0"/>
          </a:xfrm>
          <a:prstGeom prst="line">
            <a:avLst/>
          </a:prstGeom>
          <a:ln w="57150">
            <a:solidFill>
              <a:srgbClr val="10B981"/>
            </a:solidFill>
          </a:ln>
        </p:spPr>
        <p:style>
          <a:lnRef idx="2">
            <a:schemeClr val="accent1"/>
          </a:lnRef>
          <a:fillRef idx="0">
            <a:schemeClr val="accent1"/>
          </a:fillRef>
          <a:effectRef idx="1">
            <a:schemeClr val="accent1"/>
          </a:effectRef>
          <a:fontRef idx="minor">
            <a:schemeClr val="tx1"/>
          </a:fontRef>
        </p:style>
      </p:cxnSp>
      <p:sp>
        <p:nvSpPr>
          <p:cNvPr id="10" name="Title 9">
            <a:extLst>
              <a:ext uri="{FF2B5EF4-FFF2-40B4-BE49-F238E27FC236}">
                <a16:creationId xmlns:a16="http://schemas.microsoft.com/office/drawing/2014/main" id="{3A09398E-8DF5-CE51-BF01-420BD9645395}"/>
              </a:ext>
            </a:extLst>
          </p:cNvPr>
          <p:cNvSpPr>
            <a:spLocks noGrp="1"/>
          </p:cNvSpPr>
          <p:nvPr>
            <p:ph type="title"/>
          </p:nvPr>
        </p:nvSpPr>
        <p:spPr>
          <a:xfrm>
            <a:off x="552198" y="1809339"/>
            <a:ext cx="10515600" cy="1325563"/>
          </a:xfrm>
        </p:spPr>
        <p:txBody>
          <a:bodyPr/>
          <a:lstStyle>
            <a:lvl1pPr>
              <a:defRPr sz="4000" b="1"/>
            </a:lvl1pPr>
          </a:lstStyle>
          <a:p>
            <a:r>
              <a:rPr lang="en-US"/>
              <a:t>Click to edit Master title style</a:t>
            </a:r>
            <a:endParaRPr lang="en-SG"/>
          </a:p>
        </p:txBody>
      </p:sp>
      <p:sp>
        <p:nvSpPr>
          <p:cNvPr id="16" name="Text Placeholder 15">
            <a:extLst>
              <a:ext uri="{FF2B5EF4-FFF2-40B4-BE49-F238E27FC236}">
                <a16:creationId xmlns:a16="http://schemas.microsoft.com/office/drawing/2014/main" id="{B7916CD7-C2C8-8FF9-89D8-DC7FF5B80ACC}"/>
              </a:ext>
            </a:extLst>
          </p:cNvPr>
          <p:cNvSpPr>
            <a:spLocks noGrp="1"/>
          </p:cNvSpPr>
          <p:nvPr>
            <p:ph type="body" sz="quarter" idx="12"/>
          </p:nvPr>
        </p:nvSpPr>
        <p:spPr>
          <a:xfrm>
            <a:off x="552198" y="4197106"/>
            <a:ext cx="10485437" cy="966787"/>
          </a:xfrm>
        </p:spPr>
        <p:txBody>
          <a:bodyPr/>
          <a:lstStyle>
            <a:lvl1pPr>
              <a:buNone/>
              <a:defRPr sz="3200" b="1">
                <a:solidFill>
                  <a:schemeClr val="accent2"/>
                </a:solidFill>
              </a:defRPr>
            </a:lvl1pPr>
            <a:lvl2pPr>
              <a:buNone/>
              <a:defRPr/>
            </a:lvl2pPr>
          </a:lstStyle>
          <a:p>
            <a:pPr lvl="0"/>
            <a:r>
              <a:rPr lang="en-US"/>
              <a:t>Click to edit Master text styles</a:t>
            </a:r>
          </a:p>
          <a:p>
            <a:pPr lvl="1"/>
            <a:endParaRPr lang="en-SG"/>
          </a:p>
        </p:txBody>
      </p:sp>
    </p:spTree>
    <p:extLst>
      <p:ext uri="{BB962C8B-B14F-4D97-AF65-F5344CB8AC3E}">
        <p14:creationId xmlns:p14="http://schemas.microsoft.com/office/powerpoint/2010/main" val="205557381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6C8A86-25F5-4696-86F5-22B61088AD9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SG"/>
          </a:p>
        </p:txBody>
      </p:sp>
      <p:sp>
        <p:nvSpPr>
          <p:cNvPr id="3" name="Text Placeholder 2">
            <a:extLst>
              <a:ext uri="{FF2B5EF4-FFF2-40B4-BE49-F238E27FC236}">
                <a16:creationId xmlns:a16="http://schemas.microsoft.com/office/drawing/2014/main" id="{69E6D7E0-DB54-F247-D399-6040F2D5FF9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1E17B0FD-0E44-6292-3028-5C2EC4D64AF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E69F2A1-BC7B-4B9E-8127-8E0179076787}" type="datetimeFigureOut">
              <a:rPr lang="en-SG" smtClean="0"/>
              <a:t>22/5/2026</a:t>
            </a:fld>
            <a:endParaRPr lang="en-SG"/>
          </a:p>
        </p:txBody>
      </p:sp>
      <p:sp>
        <p:nvSpPr>
          <p:cNvPr id="5" name="Footer Placeholder 4">
            <a:extLst>
              <a:ext uri="{FF2B5EF4-FFF2-40B4-BE49-F238E27FC236}">
                <a16:creationId xmlns:a16="http://schemas.microsoft.com/office/drawing/2014/main" id="{D3755B28-E0AE-3447-1638-B8844620212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SG"/>
          </a:p>
        </p:txBody>
      </p:sp>
      <p:sp>
        <p:nvSpPr>
          <p:cNvPr id="6" name="Slide Number Placeholder 5">
            <a:extLst>
              <a:ext uri="{FF2B5EF4-FFF2-40B4-BE49-F238E27FC236}">
                <a16:creationId xmlns:a16="http://schemas.microsoft.com/office/drawing/2014/main" id="{CD53332C-0544-5504-FBC0-FAE7C2B0FF5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98BDFE4-9591-463E-BAEB-94DECB843EDF}" type="slidenum">
              <a:rPr lang="en-SG" smtClean="0"/>
              <a:t>‹#›</a:t>
            </a:fld>
            <a:endParaRPr lang="en-SG"/>
          </a:p>
        </p:txBody>
      </p:sp>
    </p:spTree>
    <p:extLst>
      <p:ext uri="{BB962C8B-B14F-4D97-AF65-F5344CB8AC3E}">
        <p14:creationId xmlns:p14="http://schemas.microsoft.com/office/powerpoint/2010/main" val="15323379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chart" Target="../charts/char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microsoft.com/office/2018/10/relationships/comments" Target="../comments/modernComment_10B_12D92276.xml"/><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62DDCB-66D4-9F8A-C7F0-7A7EB919F650}"/>
              </a:ext>
            </a:extLst>
          </p:cNvPr>
          <p:cNvSpPr>
            <a:spLocks noGrp="1"/>
          </p:cNvSpPr>
          <p:nvPr>
            <p:ph type="ctrTitle"/>
          </p:nvPr>
        </p:nvSpPr>
        <p:spPr>
          <a:xfrm>
            <a:off x="419652" y="2405641"/>
            <a:ext cx="9453218" cy="680686"/>
          </a:xfrm>
        </p:spPr>
        <p:txBody>
          <a:bodyPr>
            <a:normAutofit fontScale="90000"/>
          </a:bodyPr>
          <a:lstStyle/>
          <a:p>
            <a:r>
              <a:rPr lang="en-US"/>
              <a:t>Building Customer Loyalty After the First Purchase</a:t>
            </a:r>
            <a:endParaRPr lang="en-SG"/>
          </a:p>
        </p:txBody>
      </p:sp>
      <p:sp>
        <p:nvSpPr>
          <p:cNvPr id="3" name="Subtitle 2">
            <a:extLst>
              <a:ext uri="{FF2B5EF4-FFF2-40B4-BE49-F238E27FC236}">
                <a16:creationId xmlns:a16="http://schemas.microsoft.com/office/drawing/2014/main" id="{D4F578B8-65B4-1ECC-682C-A65862BBC774}"/>
              </a:ext>
            </a:extLst>
          </p:cNvPr>
          <p:cNvSpPr>
            <a:spLocks noGrp="1"/>
          </p:cNvSpPr>
          <p:nvPr>
            <p:ph type="subTitle" idx="1"/>
          </p:nvPr>
        </p:nvSpPr>
        <p:spPr/>
        <p:txBody>
          <a:bodyPr vert="horz" lIns="91440" tIns="45720" rIns="91440" bIns="45720" rtlCol="0" anchor="t">
            <a:normAutofit/>
          </a:bodyPr>
          <a:lstStyle/>
          <a:p>
            <a:r>
              <a:rPr lang="en-US" sz="1400"/>
              <a:t>Aditya Vijay | Ang Wei Lin | Emily Pham Vinh Tan | Saelin Lee | Shwe Tin Aung | Zhengfeng Toh</a:t>
            </a:r>
            <a:endParaRPr lang="en-SG" sz="1400"/>
          </a:p>
        </p:txBody>
      </p:sp>
    </p:spTree>
    <p:extLst>
      <p:ext uri="{BB962C8B-B14F-4D97-AF65-F5344CB8AC3E}">
        <p14:creationId xmlns:p14="http://schemas.microsoft.com/office/powerpoint/2010/main" val="8647856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DA233D-38CB-3180-B8BA-CF404B668CCE}"/>
              </a:ext>
            </a:extLst>
          </p:cNvPr>
          <p:cNvSpPr>
            <a:spLocks noGrp="1"/>
          </p:cNvSpPr>
          <p:nvPr>
            <p:ph type="title"/>
          </p:nvPr>
        </p:nvSpPr>
        <p:spPr/>
        <p:txBody>
          <a:bodyPr/>
          <a:lstStyle/>
          <a:p>
            <a:r>
              <a:rPr lang="en-US"/>
              <a:t>Project Overview</a:t>
            </a:r>
            <a:endParaRPr lang="en-SG"/>
          </a:p>
        </p:txBody>
      </p:sp>
      <p:pic>
        <p:nvPicPr>
          <p:cNvPr id="5" name="Picture 4">
            <a:extLst>
              <a:ext uri="{FF2B5EF4-FFF2-40B4-BE49-F238E27FC236}">
                <a16:creationId xmlns:a16="http://schemas.microsoft.com/office/drawing/2014/main" id="{406B84A9-E4BF-6408-6E8B-106421F68E36}"/>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Lst>
          </a:blip>
          <a:stretch>
            <a:fillRect/>
          </a:stretch>
        </p:blipFill>
        <p:spPr>
          <a:xfrm>
            <a:off x="537332" y="1616423"/>
            <a:ext cx="5114002" cy="5043947"/>
          </a:xfrm>
          <a:prstGeom prst="rect">
            <a:avLst/>
          </a:prstGeom>
        </p:spPr>
      </p:pic>
      <p:grpSp>
        <p:nvGrpSpPr>
          <p:cNvPr id="21" name="Group 20">
            <a:extLst>
              <a:ext uri="{FF2B5EF4-FFF2-40B4-BE49-F238E27FC236}">
                <a16:creationId xmlns:a16="http://schemas.microsoft.com/office/drawing/2014/main" id="{FA41B269-03E6-1036-44E1-DABAD2974FFE}"/>
              </a:ext>
            </a:extLst>
          </p:cNvPr>
          <p:cNvGrpSpPr/>
          <p:nvPr/>
        </p:nvGrpSpPr>
        <p:grpSpPr>
          <a:xfrm>
            <a:off x="5710575" y="1451241"/>
            <a:ext cx="4748981" cy="2229956"/>
            <a:chOff x="5710575" y="1451241"/>
            <a:chExt cx="4748981" cy="2229956"/>
          </a:xfrm>
        </p:grpSpPr>
        <p:sp>
          <p:nvSpPr>
            <p:cNvPr id="6" name="Rectangle: Rounded Corners 5">
              <a:extLst>
                <a:ext uri="{FF2B5EF4-FFF2-40B4-BE49-F238E27FC236}">
                  <a16:creationId xmlns:a16="http://schemas.microsoft.com/office/drawing/2014/main" id="{53165881-44D4-0E23-DAAA-6CB2D344B6ED}"/>
                </a:ext>
              </a:extLst>
            </p:cNvPr>
            <p:cNvSpPr/>
            <p:nvPr/>
          </p:nvSpPr>
          <p:spPr>
            <a:xfrm>
              <a:off x="5710575" y="1451241"/>
              <a:ext cx="4748981" cy="2229956"/>
            </a:xfrm>
            <a:prstGeom prst="roundRect">
              <a:avLst/>
            </a:prstGeom>
            <a:solidFill>
              <a:schemeClr val="bg1">
                <a:lumMod val="95000"/>
              </a:schemeClr>
            </a:solidFill>
            <a:ln>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7" name="TextBox 6">
              <a:extLst>
                <a:ext uri="{FF2B5EF4-FFF2-40B4-BE49-F238E27FC236}">
                  <a16:creationId xmlns:a16="http://schemas.microsoft.com/office/drawing/2014/main" id="{763B1EC3-DA40-3E83-88B9-EE28FF451615}"/>
                </a:ext>
              </a:extLst>
            </p:cNvPr>
            <p:cNvSpPr txBox="1"/>
            <p:nvPr/>
          </p:nvSpPr>
          <p:spPr>
            <a:xfrm>
              <a:off x="7138219" y="1506022"/>
              <a:ext cx="1693114" cy="369332"/>
            </a:xfrm>
            <a:prstGeom prst="rect">
              <a:avLst/>
            </a:prstGeom>
            <a:noFill/>
          </p:spPr>
          <p:txBody>
            <a:bodyPr wrap="square" rtlCol="0">
              <a:spAutoFit/>
            </a:bodyPr>
            <a:lstStyle/>
            <a:p>
              <a:r>
                <a:rPr lang="en-US" b="1"/>
                <a:t>Core Problem</a:t>
              </a:r>
              <a:endParaRPr lang="en-SG" b="1"/>
            </a:p>
          </p:txBody>
        </p:sp>
        <p:sp>
          <p:nvSpPr>
            <p:cNvPr id="8" name="TextBox 7">
              <a:extLst>
                <a:ext uri="{FF2B5EF4-FFF2-40B4-BE49-F238E27FC236}">
                  <a16:creationId xmlns:a16="http://schemas.microsoft.com/office/drawing/2014/main" id="{E53EAAE0-F1B8-C0F8-6ACE-5B8253505AFB}"/>
                </a:ext>
              </a:extLst>
            </p:cNvPr>
            <p:cNvSpPr txBox="1"/>
            <p:nvPr/>
          </p:nvSpPr>
          <p:spPr>
            <a:xfrm>
              <a:off x="7091024" y="2094271"/>
              <a:ext cx="1988082" cy="1107996"/>
            </a:xfrm>
            <a:prstGeom prst="rect">
              <a:avLst/>
            </a:prstGeom>
            <a:noFill/>
          </p:spPr>
          <p:txBody>
            <a:bodyPr wrap="square" rtlCol="0">
              <a:spAutoFit/>
            </a:bodyPr>
            <a:lstStyle/>
            <a:p>
              <a:r>
                <a:rPr lang="en-US" sz="6600" b="1">
                  <a:solidFill>
                    <a:srgbClr val="C00000"/>
                  </a:solidFill>
                </a:rPr>
                <a:t>75%</a:t>
              </a:r>
              <a:endParaRPr lang="en-SG" sz="6600" b="1">
                <a:solidFill>
                  <a:srgbClr val="C00000"/>
                </a:solidFill>
              </a:endParaRPr>
            </a:p>
          </p:txBody>
        </p:sp>
        <p:sp>
          <p:nvSpPr>
            <p:cNvPr id="10" name="TextBox 9">
              <a:extLst>
                <a:ext uri="{FF2B5EF4-FFF2-40B4-BE49-F238E27FC236}">
                  <a16:creationId xmlns:a16="http://schemas.microsoft.com/office/drawing/2014/main" id="{FDC9FEB3-F0D0-1F7A-334E-CEDA7874C35F}"/>
                </a:ext>
              </a:extLst>
            </p:cNvPr>
            <p:cNvSpPr txBox="1"/>
            <p:nvPr/>
          </p:nvSpPr>
          <p:spPr>
            <a:xfrm>
              <a:off x="7350595" y="3132557"/>
              <a:ext cx="1268361" cy="369332"/>
            </a:xfrm>
            <a:prstGeom prst="rect">
              <a:avLst/>
            </a:prstGeom>
            <a:noFill/>
          </p:spPr>
          <p:txBody>
            <a:bodyPr wrap="square" rtlCol="0">
              <a:spAutoFit/>
            </a:bodyPr>
            <a:lstStyle/>
            <a:p>
              <a:r>
                <a:rPr lang="en-US"/>
                <a:t>churn rate</a:t>
              </a:r>
              <a:endParaRPr lang="en-SG"/>
            </a:p>
          </p:txBody>
        </p:sp>
        <p:cxnSp>
          <p:nvCxnSpPr>
            <p:cNvPr id="12" name="Straight Connector 11">
              <a:extLst>
                <a:ext uri="{FF2B5EF4-FFF2-40B4-BE49-F238E27FC236}">
                  <a16:creationId xmlns:a16="http://schemas.microsoft.com/office/drawing/2014/main" id="{50F70C01-EFB3-73FA-0147-197F2F4F733F}"/>
                </a:ext>
              </a:extLst>
            </p:cNvPr>
            <p:cNvCxnSpPr>
              <a:cxnSpLocks/>
            </p:cNvCxnSpPr>
            <p:nvPr/>
          </p:nvCxnSpPr>
          <p:spPr>
            <a:xfrm>
              <a:off x="7245390" y="1875354"/>
              <a:ext cx="1473856" cy="0"/>
            </a:xfrm>
            <a:prstGeom prst="line">
              <a:avLst/>
            </a:prstGeom>
            <a:ln w="9525">
              <a:solidFill>
                <a:schemeClr val="accent2"/>
              </a:solidFill>
            </a:ln>
          </p:spPr>
          <p:style>
            <a:lnRef idx="2">
              <a:schemeClr val="accent1"/>
            </a:lnRef>
            <a:fillRef idx="0">
              <a:schemeClr val="accent1"/>
            </a:fillRef>
            <a:effectRef idx="1">
              <a:schemeClr val="accent1"/>
            </a:effectRef>
            <a:fontRef idx="minor">
              <a:schemeClr val="tx1"/>
            </a:fontRef>
          </p:style>
        </p:cxnSp>
      </p:grpSp>
      <p:grpSp>
        <p:nvGrpSpPr>
          <p:cNvPr id="20" name="Group 19">
            <a:extLst>
              <a:ext uri="{FF2B5EF4-FFF2-40B4-BE49-F238E27FC236}">
                <a16:creationId xmlns:a16="http://schemas.microsoft.com/office/drawing/2014/main" id="{3B4E03CD-CF82-1749-6F98-2A1CB6648965}"/>
              </a:ext>
            </a:extLst>
          </p:cNvPr>
          <p:cNvGrpSpPr/>
          <p:nvPr/>
        </p:nvGrpSpPr>
        <p:grpSpPr>
          <a:xfrm>
            <a:off x="5762686" y="3998779"/>
            <a:ext cx="4748981" cy="2229956"/>
            <a:chOff x="5762686" y="3998779"/>
            <a:chExt cx="4748981" cy="2229956"/>
          </a:xfrm>
        </p:grpSpPr>
        <p:sp>
          <p:nvSpPr>
            <p:cNvPr id="15" name="Rectangle: Rounded Corners 14">
              <a:extLst>
                <a:ext uri="{FF2B5EF4-FFF2-40B4-BE49-F238E27FC236}">
                  <a16:creationId xmlns:a16="http://schemas.microsoft.com/office/drawing/2014/main" id="{809B7AC3-E2FF-A8D2-9951-EEE3A27402B8}"/>
                </a:ext>
              </a:extLst>
            </p:cNvPr>
            <p:cNvSpPr/>
            <p:nvPr/>
          </p:nvSpPr>
          <p:spPr>
            <a:xfrm>
              <a:off x="5762686" y="3998779"/>
              <a:ext cx="4748981" cy="2229956"/>
            </a:xfrm>
            <a:prstGeom prst="roundRect">
              <a:avLst/>
            </a:prstGeom>
            <a:solidFill>
              <a:schemeClr val="bg1">
                <a:lumMod val="95000"/>
              </a:schemeClr>
            </a:solidFill>
            <a:ln>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6" name="TextBox 15">
              <a:extLst>
                <a:ext uri="{FF2B5EF4-FFF2-40B4-BE49-F238E27FC236}">
                  <a16:creationId xmlns:a16="http://schemas.microsoft.com/office/drawing/2014/main" id="{FDA71B0F-303D-46BD-E3BF-292D7A9DB595}"/>
                </a:ext>
              </a:extLst>
            </p:cNvPr>
            <p:cNvSpPr txBox="1"/>
            <p:nvPr/>
          </p:nvSpPr>
          <p:spPr>
            <a:xfrm>
              <a:off x="7370752" y="4055887"/>
              <a:ext cx="1428626" cy="369332"/>
            </a:xfrm>
            <a:prstGeom prst="rect">
              <a:avLst/>
            </a:prstGeom>
            <a:noFill/>
          </p:spPr>
          <p:txBody>
            <a:bodyPr wrap="square" rtlCol="0">
              <a:spAutoFit/>
            </a:bodyPr>
            <a:lstStyle/>
            <a:p>
              <a:r>
                <a:rPr lang="en-US" b="1"/>
                <a:t>Key Metric</a:t>
              </a:r>
              <a:endParaRPr lang="en-SG" b="1"/>
            </a:p>
          </p:txBody>
        </p:sp>
        <p:sp>
          <p:nvSpPr>
            <p:cNvPr id="17" name="TextBox 16">
              <a:extLst>
                <a:ext uri="{FF2B5EF4-FFF2-40B4-BE49-F238E27FC236}">
                  <a16:creationId xmlns:a16="http://schemas.microsoft.com/office/drawing/2014/main" id="{0CED2BB4-3413-8CAD-F0D8-4DFE12A4862C}"/>
                </a:ext>
              </a:extLst>
            </p:cNvPr>
            <p:cNvSpPr txBox="1"/>
            <p:nvPr/>
          </p:nvSpPr>
          <p:spPr>
            <a:xfrm>
              <a:off x="6623991" y="4572099"/>
              <a:ext cx="3699879" cy="1107996"/>
            </a:xfrm>
            <a:prstGeom prst="rect">
              <a:avLst/>
            </a:prstGeom>
            <a:noFill/>
          </p:spPr>
          <p:txBody>
            <a:bodyPr wrap="square" rtlCol="0">
              <a:spAutoFit/>
            </a:bodyPr>
            <a:lstStyle/>
            <a:p>
              <a:r>
                <a:rPr lang="en-US" sz="6600" b="1">
                  <a:solidFill>
                    <a:schemeClr val="accent1"/>
                  </a:solidFill>
                </a:rPr>
                <a:t>60 days</a:t>
              </a:r>
              <a:endParaRPr lang="en-SG" sz="6600" b="1">
                <a:solidFill>
                  <a:schemeClr val="accent1"/>
                </a:solidFill>
              </a:endParaRPr>
            </a:p>
          </p:txBody>
        </p:sp>
        <p:sp>
          <p:nvSpPr>
            <p:cNvPr id="18" name="TextBox 17">
              <a:extLst>
                <a:ext uri="{FF2B5EF4-FFF2-40B4-BE49-F238E27FC236}">
                  <a16:creationId xmlns:a16="http://schemas.microsoft.com/office/drawing/2014/main" id="{9094A8CC-6EF0-CEE2-33C5-1A46DDF733B4}"/>
                </a:ext>
              </a:extLst>
            </p:cNvPr>
            <p:cNvSpPr txBox="1"/>
            <p:nvPr/>
          </p:nvSpPr>
          <p:spPr>
            <a:xfrm>
              <a:off x="6960255" y="5642309"/>
              <a:ext cx="2921165" cy="369332"/>
            </a:xfrm>
            <a:prstGeom prst="rect">
              <a:avLst/>
            </a:prstGeom>
            <a:noFill/>
          </p:spPr>
          <p:txBody>
            <a:bodyPr wrap="square" rtlCol="0">
              <a:spAutoFit/>
            </a:bodyPr>
            <a:lstStyle/>
            <a:p>
              <a:r>
                <a:rPr lang="en-US"/>
                <a:t>window for 2</a:t>
              </a:r>
              <a:r>
                <a:rPr lang="en-US" baseline="30000"/>
                <a:t>nd</a:t>
              </a:r>
              <a:r>
                <a:rPr lang="en-US"/>
                <a:t> purchase</a:t>
              </a:r>
              <a:endParaRPr lang="en-SG"/>
            </a:p>
          </p:txBody>
        </p:sp>
        <p:cxnSp>
          <p:nvCxnSpPr>
            <p:cNvPr id="19" name="Straight Connector 18">
              <a:extLst>
                <a:ext uri="{FF2B5EF4-FFF2-40B4-BE49-F238E27FC236}">
                  <a16:creationId xmlns:a16="http://schemas.microsoft.com/office/drawing/2014/main" id="{D7A21200-9F66-2EE4-0024-A104CCB1C6E7}"/>
                </a:ext>
              </a:extLst>
            </p:cNvPr>
            <p:cNvCxnSpPr>
              <a:cxnSpLocks/>
            </p:cNvCxnSpPr>
            <p:nvPr/>
          </p:nvCxnSpPr>
          <p:spPr>
            <a:xfrm>
              <a:off x="7480379" y="4439461"/>
              <a:ext cx="1138577" cy="0"/>
            </a:xfrm>
            <a:prstGeom prst="line">
              <a:avLst/>
            </a:prstGeom>
            <a:ln w="9525">
              <a:solidFill>
                <a:schemeClr val="accent2"/>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6744518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FC1DEA-176D-33D4-03F6-003A63F1A9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6DAAF8-1E7E-05AB-8263-5BEA9E682D36}"/>
              </a:ext>
            </a:extLst>
          </p:cNvPr>
          <p:cNvSpPr>
            <a:spLocks noGrp="1"/>
          </p:cNvSpPr>
          <p:nvPr>
            <p:ph type="title"/>
          </p:nvPr>
        </p:nvSpPr>
        <p:spPr/>
        <p:txBody>
          <a:bodyPr/>
          <a:lstStyle/>
          <a:p>
            <a:r>
              <a:rPr lang="en-US"/>
              <a:t>Business at a Glance</a:t>
            </a:r>
            <a:endParaRPr lang="en-SG"/>
          </a:p>
        </p:txBody>
      </p:sp>
      <p:grpSp>
        <p:nvGrpSpPr>
          <p:cNvPr id="4" name="Group 3">
            <a:extLst>
              <a:ext uri="{FF2B5EF4-FFF2-40B4-BE49-F238E27FC236}">
                <a16:creationId xmlns:a16="http://schemas.microsoft.com/office/drawing/2014/main" id="{088242B0-987D-E1C4-409B-F69476BC90AC}"/>
              </a:ext>
            </a:extLst>
          </p:cNvPr>
          <p:cNvGrpSpPr/>
          <p:nvPr/>
        </p:nvGrpSpPr>
        <p:grpSpPr>
          <a:xfrm>
            <a:off x="864233" y="1782827"/>
            <a:ext cx="3254477" cy="1785578"/>
            <a:chOff x="5710575" y="1451241"/>
            <a:chExt cx="2678307" cy="1959191"/>
          </a:xfrm>
        </p:grpSpPr>
        <p:sp>
          <p:nvSpPr>
            <p:cNvPr id="5" name="Rectangle: Rounded Corners 4">
              <a:extLst>
                <a:ext uri="{FF2B5EF4-FFF2-40B4-BE49-F238E27FC236}">
                  <a16:creationId xmlns:a16="http://schemas.microsoft.com/office/drawing/2014/main" id="{73019AA9-E6D5-5BAA-1D43-635B49E7F835}"/>
                </a:ext>
              </a:extLst>
            </p:cNvPr>
            <p:cNvSpPr/>
            <p:nvPr/>
          </p:nvSpPr>
          <p:spPr>
            <a:xfrm>
              <a:off x="5710575" y="1451241"/>
              <a:ext cx="2678307" cy="1959191"/>
            </a:xfrm>
            <a:prstGeom prst="roundRect">
              <a:avLst/>
            </a:prstGeom>
            <a:solidFill>
              <a:schemeClr val="bg1">
                <a:lumMod val="95000"/>
              </a:schemeClr>
            </a:solidFill>
            <a:ln>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6" name="TextBox 5">
              <a:extLst>
                <a:ext uri="{FF2B5EF4-FFF2-40B4-BE49-F238E27FC236}">
                  <a16:creationId xmlns:a16="http://schemas.microsoft.com/office/drawing/2014/main" id="{E637CF83-DC06-1528-8F44-8DFFC14F09D3}"/>
                </a:ext>
              </a:extLst>
            </p:cNvPr>
            <p:cNvSpPr txBox="1"/>
            <p:nvPr/>
          </p:nvSpPr>
          <p:spPr>
            <a:xfrm>
              <a:off x="6044491" y="1577980"/>
              <a:ext cx="2168726" cy="405242"/>
            </a:xfrm>
            <a:prstGeom prst="rect">
              <a:avLst/>
            </a:prstGeom>
            <a:noFill/>
          </p:spPr>
          <p:txBody>
            <a:bodyPr wrap="square" rtlCol="0">
              <a:spAutoFit/>
            </a:bodyPr>
            <a:lstStyle/>
            <a:p>
              <a:r>
                <a:rPr lang="en-US" b="1"/>
                <a:t># of unique customers</a:t>
              </a:r>
              <a:endParaRPr lang="en-SG" b="1"/>
            </a:p>
          </p:txBody>
        </p:sp>
        <p:sp>
          <p:nvSpPr>
            <p:cNvPr id="7" name="TextBox 6">
              <a:extLst>
                <a:ext uri="{FF2B5EF4-FFF2-40B4-BE49-F238E27FC236}">
                  <a16:creationId xmlns:a16="http://schemas.microsoft.com/office/drawing/2014/main" id="{38079965-4EAA-FA86-3A49-5917061C6E71}"/>
                </a:ext>
              </a:extLst>
            </p:cNvPr>
            <p:cNvSpPr txBox="1"/>
            <p:nvPr/>
          </p:nvSpPr>
          <p:spPr>
            <a:xfrm>
              <a:off x="6096966" y="2210103"/>
              <a:ext cx="1958160" cy="923330"/>
            </a:xfrm>
            <a:prstGeom prst="rect">
              <a:avLst/>
            </a:prstGeom>
            <a:noFill/>
          </p:spPr>
          <p:txBody>
            <a:bodyPr wrap="square" rtlCol="0">
              <a:spAutoFit/>
            </a:bodyPr>
            <a:lstStyle/>
            <a:p>
              <a:r>
                <a:rPr lang="en-US" sz="5400" b="1">
                  <a:solidFill>
                    <a:schemeClr val="accent1"/>
                  </a:solidFill>
                </a:rPr>
                <a:t>13,780</a:t>
              </a:r>
              <a:endParaRPr lang="en-SG" sz="5400" b="1">
                <a:solidFill>
                  <a:schemeClr val="accent1"/>
                </a:solidFill>
              </a:endParaRPr>
            </a:p>
          </p:txBody>
        </p:sp>
        <p:cxnSp>
          <p:nvCxnSpPr>
            <p:cNvPr id="9" name="Straight Connector 8">
              <a:extLst>
                <a:ext uri="{FF2B5EF4-FFF2-40B4-BE49-F238E27FC236}">
                  <a16:creationId xmlns:a16="http://schemas.microsoft.com/office/drawing/2014/main" id="{E8266415-9E99-5FF4-8F53-3D29AD06BB69}"/>
                </a:ext>
              </a:extLst>
            </p:cNvPr>
            <p:cNvCxnSpPr>
              <a:cxnSpLocks/>
            </p:cNvCxnSpPr>
            <p:nvPr/>
          </p:nvCxnSpPr>
          <p:spPr>
            <a:xfrm>
              <a:off x="6151136" y="1973702"/>
              <a:ext cx="1903990" cy="0"/>
            </a:xfrm>
            <a:prstGeom prst="line">
              <a:avLst/>
            </a:prstGeom>
            <a:ln w="9525">
              <a:solidFill>
                <a:schemeClr val="accent2"/>
              </a:solidFill>
            </a:ln>
          </p:spPr>
          <p:style>
            <a:lnRef idx="2">
              <a:schemeClr val="accent1"/>
            </a:lnRef>
            <a:fillRef idx="0">
              <a:schemeClr val="accent1"/>
            </a:fillRef>
            <a:effectRef idx="1">
              <a:schemeClr val="accent1"/>
            </a:effectRef>
            <a:fontRef idx="minor">
              <a:schemeClr val="tx1"/>
            </a:fontRef>
          </p:style>
        </p:cxnSp>
      </p:grpSp>
      <p:grpSp>
        <p:nvGrpSpPr>
          <p:cNvPr id="23" name="Group 22">
            <a:extLst>
              <a:ext uri="{FF2B5EF4-FFF2-40B4-BE49-F238E27FC236}">
                <a16:creationId xmlns:a16="http://schemas.microsoft.com/office/drawing/2014/main" id="{DEF64174-1F1B-AE72-6FA9-F318471092A5}"/>
              </a:ext>
            </a:extLst>
          </p:cNvPr>
          <p:cNvGrpSpPr/>
          <p:nvPr/>
        </p:nvGrpSpPr>
        <p:grpSpPr>
          <a:xfrm>
            <a:off x="8073289" y="1782827"/>
            <a:ext cx="3254477" cy="1785578"/>
            <a:chOff x="5710575" y="1451242"/>
            <a:chExt cx="2678307" cy="2032349"/>
          </a:xfrm>
        </p:grpSpPr>
        <p:sp>
          <p:nvSpPr>
            <p:cNvPr id="24" name="Rectangle: Rounded Corners 23">
              <a:extLst>
                <a:ext uri="{FF2B5EF4-FFF2-40B4-BE49-F238E27FC236}">
                  <a16:creationId xmlns:a16="http://schemas.microsoft.com/office/drawing/2014/main" id="{E583628B-14FC-53F1-8AAB-038D5FCA07EB}"/>
                </a:ext>
              </a:extLst>
            </p:cNvPr>
            <p:cNvSpPr/>
            <p:nvPr/>
          </p:nvSpPr>
          <p:spPr>
            <a:xfrm>
              <a:off x="5710575" y="1451242"/>
              <a:ext cx="2678307" cy="2032349"/>
            </a:xfrm>
            <a:prstGeom prst="roundRect">
              <a:avLst/>
            </a:prstGeom>
            <a:solidFill>
              <a:schemeClr val="bg1">
                <a:lumMod val="95000"/>
              </a:schemeClr>
            </a:solidFill>
            <a:ln>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5" name="TextBox 24">
              <a:extLst>
                <a:ext uri="{FF2B5EF4-FFF2-40B4-BE49-F238E27FC236}">
                  <a16:creationId xmlns:a16="http://schemas.microsoft.com/office/drawing/2014/main" id="{81001B7F-514B-7001-F6F0-F571F556BB53}"/>
                </a:ext>
              </a:extLst>
            </p:cNvPr>
            <p:cNvSpPr txBox="1"/>
            <p:nvPr/>
          </p:nvSpPr>
          <p:spPr>
            <a:xfrm>
              <a:off x="6372177" y="1582714"/>
              <a:ext cx="1693114" cy="369332"/>
            </a:xfrm>
            <a:prstGeom prst="rect">
              <a:avLst/>
            </a:prstGeom>
            <a:noFill/>
          </p:spPr>
          <p:txBody>
            <a:bodyPr wrap="square" rtlCol="0">
              <a:spAutoFit/>
            </a:bodyPr>
            <a:lstStyle/>
            <a:p>
              <a:r>
                <a:rPr lang="en-US" b="1"/>
                <a:t>Repeat Rate</a:t>
              </a:r>
              <a:endParaRPr lang="en-SG" b="1"/>
            </a:p>
          </p:txBody>
        </p:sp>
        <p:sp>
          <p:nvSpPr>
            <p:cNvPr id="26" name="TextBox 25">
              <a:extLst>
                <a:ext uri="{FF2B5EF4-FFF2-40B4-BE49-F238E27FC236}">
                  <a16:creationId xmlns:a16="http://schemas.microsoft.com/office/drawing/2014/main" id="{70DE5A8F-B53A-9D80-80FA-886635339E62}"/>
                </a:ext>
              </a:extLst>
            </p:cNvPr>
            <p:cNvSpPr txBox="1"/>
            <p:nvPr/>
          </p:nvSpPr>
          <p:spPr>
            <a:xfrm>
              <a:off x="6230593" y="2295316"/>
              <a:ext cx="1771553" cy="923330"/>
            </a:xfrm>
            <a:prstGeom prst="rect">
              <a:avLst/>
            </a:prstGeom>
            <a:noFill/>
          </p:spPr>
          <p:txBody>
            <a:bodyPr wrap="square" rtlCol="0">
              <a:spAutoFit/>
            </a:bodyPr>
            <a:lstStyle/>
            <a:p>
              <a:r>
                <a:rPr lang="en-US" sz="5400" b="1">
                  <a:solidFill>
                    <a:schemeClr val="accent1"/>
                  </a:solidFill>
                </a:rPr>
                <a:t>32.4%</a:t>
              </a:r>
              <a:endParaRPr lang="en-SG" sz="5400" b="1">
                <a:solidFill>
                  <a:schemeClr val="accent1"/>
                </a:solidFill>
              </a:endParaRPr>
            </a:p>
          </p:txBody>
        </p:sp>
        <p:cxnSp>
          <p:nvCxnSpPr>
            <p:cNvPr id="28" name="Straight Connector 27">
              <a:extLst>
                <a:ext uri="{FF2B5EF4-FFF2-40B4-BE49-F238E27FC236}">
                  <a16:creationId xmlns:a16="http://schemas.microsoft.com/office/drawing/2014/main" id="{1B5E044E-AE4D-6BE4-5996-2DCD1FBDECEF}"/>
                </a:ext>
              </a:extLst>
            </p:cNvPr>
            <p:cNvCxnSpPr>
              <a:cxnSpLocks/>
            </p:cNvCxnSpPr>
            <p:nvPr/>
          </p:nvCxnSpPr>
          <p:spPr>
            <a:xfrm>
              <a:off x="6468754" y="1937791"/>
              <a:ext cx="1039193" cy="0"/>
            </a:xfrm>
            <a:prstGeom prst="line">
              <a:avLst/>
            </a:prstGeom>
            <a:ln w="9525">
              <a:solidFill>
                <a:schemeClr val="accent2"/>
              </a:solidFill>
            </a:ln>
          </p:spPr>
          <p:style>
            <a:lnRef idx="2">
              <a:schemeClr val="accent1"/>
            </a:lnRef>
            <a:fillRef idx="0">
              <a:schemeClr val="accent1"/>
            </a:fillRef>
            <a:effectRef idx="1">
              <a:schemeClr val="accent1"/>
            </a:effectRef>
            <a:fontRef idx="minor">
              <a:schemeClr val="tx1"/>
            </a:fontRef>
          </p:style>
        </p:cxnSp>
      </p:grpSp>
      <p:grpSp>
        <p:nvGrpSpPr>
          <p:cNvPr id="3" name="Group 2">
            <a:extLst>
              <a:ext uri="{FF2B5EF4-FFF2-40B4-BE49-F238E27FC236}">
                <a16:creationId xmlns:a16="http://schemas.microsoft.com/office/drawing/2014/main" id="{2FB92D4D-C9F8-6FA2-6912-38624AA48926}"/>
              </a:ext>
            </a:extLst>
          </p:cNvPr>
          <p:cNvGrpSpPr/>
          <p:nvPr/>
        </p:nvGrpSpPr>
        <p:grpSpPr>
          <a:xfrm>
            <a:off x="864233" y="3732082"/>
            <a:ext cx="3254477" cy="1785578"/>
            <a:chOff x="7924897" y="1725962"/>
            <a:chExt cx="3254477" cy="1785578"/>
          </a:xfrm>
        </p:grpSpPr>
        <p:sp>
          <p:nvSpPr>
            <p:cNvPr id="30" name="Rectangle: Rounded Corners 29">
              <a:extLst>
                <a:ext uri="{FF2B5EF4-FFF2-40B4-BE49-F238E27FC236}">
                  <a16:creationId xmlns:a16="http://schemas.microsoft.com/office/drawing/2014/main" id="{B1FD4A3C-EDC3-71DF-917F-F961947FC1E4}"/>
                </a:ext>
              </a:extLst>
            </p:cNvPr>
            <p:cNvSpPr/>
            <p:nvPr/>
          </p:nvSpPr>
          <p:spPr>
            <a:xfrm>
              <a:off x="7924897" y="1725962"/>
              <a:ext cx="3254477" cy="1785578"/>
            </a:xfrm>
            <a:prstGeom prst="roundRect">
              <a:avLst/>
            </a:prstGeom>
            <a:solidFill>
              <a:schemeClr val="bg1">
                <a:lumMod val="95000"/>
              </a:schemeClr>
            </a:solidFill>
            <a:ln>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1" name="TextBox 30">
              <a:extLst>
                <a:ext uri="{FF2B5EF4-FFF2-40B4-BE49-F238E27FC236}">
                  <a16:creationId xmlns:a16="http://schemas.microsoft.com/office/drawing/2014/main" id="{9A23C120-3B1C-64D1-DC48-AC9D353AEC32}"/>
                </a:ext>
              </a:extLst>
            </p:cNvPr>
            <p:cNvSpPr txBox="1"/>
            <p:nvPr/>
          </p:nvSpPr>
          <p:spPr>
            <a:xfrm>
              <a:off x="8545946" y="1857434"/>
              <a:ext cx="2057345" cy="369332"/>
            </a:xfrm>
            <a:prstGeom prst="rect">
              <a:avLst/>
            </a:prstGeom>
            <a:noFill/>
          </p:spPr>
          <p:txBody>
            <a:bodyPr wrap="square" rtlCol="0">
              <a:spAutoFit/>
            </a:bodyPr>
            <a:lstStyle/>
            <a:p>
              <a:r>
                <a:rPr lang="en-US" b="1"/>
                <a:t>60-day retention</a:t>
              </a:r>
              <a:endParaRPr lang="en-SG" b="1"/>
            </a:p>
          </p:txBody>
        </p:sp>
        <p:sp>
          <p:nvSpPr>
            <p:cNvPr id="32" name="TextBox 31">
              <a:extLst>
                <a:ext uri="{FF2B5EF4-FFF2-40B4-BE49-F238E27FC236}">
                  <a16:creationId xmlns:a16="http://schemas.microsoft.com/office/drawing/2014/main" id="{0DCA046F-9D66-87A3-1903-B26B62917750}"/>
                </a:ext>
              </a:extLst>
            </p:cNvPr>
            <p:cNvSpPr txBox="1"/>
            <p:nvPr/>
          </p:nvSpPr>
          <p:spPr>
            <a:xfrm>
              <a:off x="8488598" y="2445683"/>
              <a:ext cx="2297977" cy="923330"/>
            </a:xfrm>
            <a:prstGeom prst="rect">
              <a:avLst/>
            </a:prstGeom>
            <a:noFill/>
          </p:spPr>
          <p:txBody>
            <a:bodyPr wrap="square" rtlCol="0">
              <a:spAutoFit/>
            </a:bodyPr>
            <a:lstStyle/>
            <a:p>
              <a:r>
                <a:rPr lang="en-US" sz="5400" b="1">
                  <a:solidFill>
                    <a:schemeClr val="accent1"/>
                  </a:solidFill>
                </a:rPr>
                <a:t>18.1%</a:t>
              </a:r>
              <a:endParaRPr lang="en-SG" sz="5400" b="1">
                <a:solidFill>
                  <a:schemeClr val="accent1"/>
                </a:solidFill>
              </a:endParaRPr>
            </a:p>
          </p:txBody>
        </p:sp>
        <p:cxnSp>
          <p:nvCxnSpPr>
            <p:cNvPr id="34" name="Straight Connector 33">
              <a:extLst>
                <a:ext uri="{FF2B5EF4-FFF2-40B4-BE49-F238E27FC236}">
                  <a16:creationId xmlns:a16="http://schemas.microsoft.com/office/drawing/2014/main" id="{455D94C0-722C-B971-953D-D42D0AE297BA}"/>
                </a:ext>
              </a:extLst>
            </p:cNvPr>
            <p:cNvCxnSpPr>
              <a:cxnSpLocks/>
            </p:cNvCxnSpPr>
            <p:nvPr/>
          </p:nvCxnSpPr>
          <p:spPr>
            <a:xfrm>
              <a:off x="8658394" y="2212511"/>
              <a:ext cx="1703427" cy="0"/>
            </a:xfrm>
            <a:prstGeom prst="line">
              <a:avLst/>
            </a:prstGeom>
            <a:ln w="9525">
              <a:solidFill>
                <a:schemeClr val="accent2"/>
              </a:solidFill>
            </a:ln>
          </p:spPr>
          <p:style>
            <a:lnRef idx="2">
              <a:schemeClr val="accent1"/>
            </a:lnRef>
            <a:fillRef idx="0">
              <a:schemeClr val="accent1"/>
            </a:fillRef>
            <a:effectRef idx="1">
              <a:schemeClr val="accent1"/>
            </a:effectRef>
            <a:fontRef idx="minor">
              <a:schemeClr val="tx1"/>
            </a:fontRef>
          </p:style>
        </p:cxnSp>
      </p:grpSp>
      <p:grpSp>
        <p:nvGrpSpPr>
          <p:cNvPr id="35" name="Group 34">
            <a:extLst>
              <a:ext uri="{FF2B5EF4-FFF2-40B4-BE49-F238E27FC236}">
                <a16:creationId xmlns:a16="http://schemas.microsoft.com/office/drawing/2014/main" id="{CB52D4AD-B814-7E50-B3C6-98F61218EAAE}"/>
              </a:ext>
            </a:extLst>
          </p:cNvPr>
          <p:cNvGrpSpPr/>
          <p:nvPr/>
        </p:nvGrpSpPr>
        <p:grpSpPr>
          <a:xfrm>
            <a:off x="4468761" y="3792530"/>
            <a:ext cx="3254477" cy="1664682"/>
            <a:chOff x="5710575" y="1451242"/>
            <a:chExt cx="2678307" cy="1942178"/>
          </a:xfrm>
        </p:grpSpPr>
        <p:sp>
          <p:nvSpPr>
            <p:cNvPr id="36" name="Rectangle: Rounded Corners 35">
              <a:extLst>
                <a:ext uri="{FF2B5EF4-FFF2-40B4-BE49-F238E27FC236}">
                  <a16:creationId xmlns:a16="http://schemas.microsoft.com/office/drawing/2014/main" id="{D3B4A8BB-4B51-5FCE-E745-7B18E68C3E50}"/>
                </a:ext>
              </a:extLst>
            </p:cNvPr>
            <p:cNvSpPr/>
            <p:nvPr/>
          </p:nvSpPr>
          <p:spPr>
            <a:xfrm>
              <a:off x="5710575" y="1451242"/>
              <a:ext cx="2678307" cy="1942178"/>
            </a:xfrm>
            <a:prstGeom prst="roundRect">
              <a:avLst/>
            </a:prstGeom>
            <a:solidFill>
              <a:schemeClr val="bg1">
                <a:lumMod val="95000"/>
              </a:schemeClr>
            </a:solidFill>
            <a:ln>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7" name="TextBox 36">
              <a:extLst>
                <a:ext uri="{FF2B5EF4-FFF2-40B4-BE49-F238E27FC236}">
                  <a16:creationId xmlns:a16="http://schemas.microsoft.com/office/drawing/2014/main" id="{5A886C38-9017-C875-BD6E-13D0F4800AD8}"/>
                </a:ext>
              </a:extLst>
            </p:cNvPr>
            <p:cNvSpPr txBox="1"/>
            <p:nvPr/>
          </p:nvSpPr>
          <p:spPr>
            <a:xfrm>
              <a:off x="5851604" y="1582714"/>
              <a:ext cx="2457307" cy="369332"/>
            </a:xfrm>
            <a:prstGeom prst="rect">
              <a:avLst/>
            </a:prstGeom>
            <a:noFill/>
          </p:spPr>
          <p:txBody>
            <a:bodyPr wrap="square" rtlCol="0">
              <a:spAutoFit/>
            </a:bodyPr>
            <a:lstStyle/>
            <a:p>
              <a:r>
                <a:rPr lang="en-US" b="1"/>
                <a:t>Median days to 2</a:t>
              </a:r>
              <a:r>
                <a:rPr lang="en-US" b="1" baseline="30000"/>
                <a:t>nd</a:t>
              </a:r>
              <a:r>
                <a:rPr lang="en-US" b="1"/>
                <a:t> order</a:t>
              </a:r>
              <a:endParaRPr lang="en-SG" b="1"/>
            </a:p>
          </p:txBody>
        </p:sp>
        <p:sp>
          <p:nvSpPr>
            <p:cNvPr id="38" name="TextBox 37">
              <a:extLst>
                <a:ext uri="{FF2B5EF4-FFF2-40B4-BE49-F238E27FC236}">
                  <a16:creationId xmlns:a16="http://schemas.microsoft.com/office/drawing/2014/main" id="{C8C4AE46-953D-DB6C-303D-EBF25CE7D3F7}"/>
                </a:ext>
              </a:extLst>
            </p:cNvPr>
            <p:cNvSpPr txBox="1"/>
            <p:nvPr/>
          </p:nvSpPr>
          <p:spPr>
            <a:xfrm>
              <a:off x="6447518" y="2138607"/>
              <a:ext cx="1482926" cy="981602"/>
            </a:xfrm>
            <a:prstGeom prst="rect">
              <a:avLst/>
            </a:prstGeom>
            <a:noFill/>
          </p:spPr>
          <p:txBody>
            <a:bodyPr wrap="square" rtlCol="0">
              <a:spAutoFit/>
            </a:bodyPr>
            <a:lstStyle/>
            <a:p>
              <a:r>
                <a:rPr lang="en-US" sz="5400" b="1">
                  <a:solidFill>
                    <a:schemeClr val="accent1"/>
                  </a:solidFill>
                </a:rPr>
                <a:t>49 </a:t>
              </a:r>
              <a:r>
                <a:rPr lang="en-US"/>
                <a:t>days</a:t>
              </a:r>
              <a:endParaRPr lang="en-SG"/>
            </a:p>
          </p:txBody>
        </p:sp>
        <p:cxnSp>
          <p:nvCxnSpPr>
            <p:cNvPr id="40" name="Straight Connector 39">
              <a:extLst>
                <a:ext uri="{FF2B5EF4-FFF2-40B4-BE49-F238E27FC236}">
                  <a16:creationId xmlns:a16="http://schemas.microsoft.com/office/drawing/2014/main" id="{62D7A538-74AB-2600-4B5C-E3FE4E09BDF3}"/>
                </a:ext>
              </a:extLst>
            </p:cNvPr>
            <p:cNvCxnSpPr>
              <a:cxnSpLocks/>
            </p:cNvCxnSpPr>
            <p:nvPr/>
          </p:nvCxnSpPr>
          <p:spPr>
            <a:xfrm>
              <a:off x="5934149" y="1968256"/>
              <a:ext cx="2083947" cy="0"/>
            </a:xfrm>
            <a:prstGeom prst="line">
              <a:avLst/>
            </a:prstGeom>
            <a:ln w="9525">
              <a:solidFill>
                <a:schemeClr val="accent2"/>
              </a:solidFill>
            </a:ln>
          </p:spPr>
          <p:style>
            <a:lnRef idx="2">
              <a:schemeClr val="accent1"/>
            </a:lnRef>
            <a:fillRef idx="0">
              <a:schemeClr val="accent1"/>
            </a:fillRef>
            <a:effectRef idx="1">
              <a:schemeClr val="accent1"/>
            </a:effectRef>
            <a:fontRef idx="minor">
              <a:schemeClr val="tx1"/>
            </a:fontRef>
          </p:style>
        </p:cxnSp>
      </p:grpSp>
      <p:grpSp>
        <p:nvGrpSpPr>
          <p:cNvPr id="41" name="Group 40">
            <a:extLst>
              <a:ext uri="{FF2B5EF4-FFF2-40B4-BE49-F238E27FC236}">
                <a16:creationId xmlns:a16="http://schemas.microsoft.com/office/drawing/2014/main" id="{92586B5E-7553-6596-3009-7D545137EA97}"/>
              </a:ext>
            </a:extLst>
          </p:cNvPr>
          <p:cNvGrpSpPr/>
          <p:nvPr/>
        </p:nvGrpSpPr>
        <p:grpSpPr>
          <a:xfrm>
            <a:off x="8073289" y="3797446"/>
            <a:ext cx="3254477" cy="1659766"/>
            <a:chOff x="5710575" y="1451241"/>
            <a:chExt cx="2678307" cy="1821487"/>
          </a:xfrm>
        </p:grpSpPr>
        <p:sp>
          <p:nvSpPr>
            <p:cNvPr id="42" name="Rectangle: Rounded Corners 41">
              <a:extLst>
                <a:ext uri="{FF2B5EF4-FFF2-40B4-BE49-F238E27FC236}">
                  <a16:creationId xmlns:a16="http://schemas.microsoft.com/office/drawing/2014/main" id="{926A8393-62C6-AD8E-0301-5D79AAF44647}"/>
                </a:ext>
              </a:extLst>
            </p:cNvPr>
            <p:cNvSpPr/>
            <p:nvPr/>
          </p:nvSpPr>
          <p:spPr>
            <a:xfrm>
              <a:off x="5710575" y="1451241"/>
              <a:ext cx="2678307" cy="1821487"/>
            </a:xfrm>
            <a:prstGeom prst="roundRect">
              <a:avLst/>
            </a:prstGeom>
            <a:solidFill>
              <a:schemeClr val="bg1">
                <a:lumMod val="95000"/>
              </a:schemeClr>
            </a:solidFill>
            <a:ln>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43" name="TextBox 42">
              <a:extLst>
                <a:ext uri="{FF2B5EF4-FFF2-40B4-BE49-F238E27FC236}">
                  <a16:creationId xmlns:a16="http://schemas.microsoft.com/office/drawing/2014/main" id="{E6410969-8937-FFDA-60DC-0839944BC162}"/>
                </a:ext>
              </a:extLst>
            </p:cNvPr>
            <p:cNvSpPr txBox="1"/>
            <p:nvPr/>
          </p:nvSpPr>
          <p:spPr>
            <a:xfrm>
              <a:off x="5975491" y="1584059"/>
              <a:ext cx="2148474" cy="369332"/>
            </a:xfrm>
            <a:prstGeom prst="rect">
              <a:avLst/>
            </a:prstGeom>
            <a:noFill/>
          </p:spPr>
          <p:txBody>
            <a:bodyPr wrap="square" rtlCol="0">
              <a:spAutoFit/>
            </a:bodyPr>
            <a:lstStyle/>
            <a:p>
              <a:r>
                <a:rPr lang="en-US" b="1"/>
                <a:t>Subscriber LTV uplift</a:t>
              </a:r>
              <a:endParaRPr lang="en-SG" b="1"/>
            </a:p>
          </p:txBody>
        </p:sp>
        <p:sp>
          <p:nvSpPr>
            <p:cNvPr id="44" name="TextBox 43">
              <a:extLst>
                <a:ext uri="{FF2B5EF4-FFF2-40B4-BE49-F238E27FC236}">
                  <a16:creationId xmlns:a16="http://schemas.microsoft.com/office/drawing/2014/main" id="{698C1E80-4126-DA09-04A6-D9B88ACAB299}"/>
                </a:ext>
              </a:extLst>
            </p:cNvPr>
            <p:cNvSpPr txBox="1"/>
            <p:nvPr/>
          </p:nvSpPr>
          <p:spPr>
            <a:xfrm>
              <a:off x="6081358" y="2028103"/>
              <a:ext cx="2042605" cy="1013296"/>
            </a:xfrm>
            <a:prstGeom prst="rect">
              <a:avLst/>
            </a:prstGeom>
            <a:noFill/>
          </p:spPr>
          <p:txBody>
            <a:bodyPr wrap="square" rtlCol="0">
              <a:spAutoFit/>
            </a:bodyPr>
            <a:lstStyle/>
            <a:p>
              <a:r>
                <a:rPr lang="en-US" sz="4400" b="1">
                  <a:solidFill>
                    <a:schemeClr val="accent1"/>
                  </a:solidFill>
                </a:rPr>
                <a:t>+</a:t>
              </a:r>
              <a:r>
                <a:rPr lang="en-US" sz="5400" b="1">
                  <a:solidFill>
                    <a:schemeClr val="accent1"/>
                  </a:solidFill>
                </a:rPr>
                <a:t>166%</a:t>
              </a:r>
              <a:endParaRPr lang="en-SG" sz="5400" b="1">
                <a:solidFill>
                  <a:schemeClr val="accent1"/>
                </a:solidFill>
              </a:endParaRPr>
            </a:p>
          </p:txBody>
        </p:sp>
        <p:sp>
          <p:nvSpPr>
            <p:cNvPr id="45" name="TextBox 44">
              <a:extLst>
                <a:ext uri="{FF2B5EF4-FFF2-40B4-BE49-F238E27FC236}">
                  <a16:creationId xmlns:a16="http://schemas.microsoft.com/office/drawing/2014/main" id="{5EFA7A73-83E7-C17D-5A05-6F1392DBC660}"/>
                </a:ext>
              </a:extLst>
            </p:cNvPr>
            <p:cNvSpPr txBox="1"/>
            <p:nvPr/>
          </p:nvSpPr>
          <p:spPr>
            <a:xfrm>
              <a:off x="6367351" y="2941991"/>
              <a:ext cx="1877986" cy="307777"/>
            </a:xfrm>
            <a:prstGeom prst="rect">
              <a:avLst/>
            </a:prstGeom>
            <a:noFill/>
          </p:spPr>
          <p:txBody>
            <a:bodyPr wrap="square" rtlCol="0">
              <a:spAutoFit/>
            </a:bodyPr>
            <a:lstStyle/>
            <a:p>
              <a:r>
                <a:rPr lang="en-US" sz="1400">
                  <a:solidFill>
                    <a:schemeClr val="accent2"/>
                  </a:solidFill>
                </a:rPr>
                <a:t>vs non-subscribers</a:t>
              </a:r>
              <a:endParaRPr lang="en-SG" sz="1400">
                <a:solidFill>
                  <a:schemeClr val="accent2"/>
                </a:solidFill>
              </a:endParaRPr>
            </a:p>
          </p:txBody>
        </p:sp>
        <p:cxnSp>
          <p:nvCxnSpPr>
            <p:cNvPr id="46" name="Straight Connector 45">
              <a:extLst>
                <a:ext uri="{FF2B5EF4-FFF2-40B4-BE49-F238E27FC236}">
                  <a16:creationId xmlns:a16="http://schemas.microsoft.com/office/drawing/2014/main" id="{73ACAAF6-27C2-B84D-19BD-84791B5C9DE9}"/>
                </a:ext>
              </a:extLst>
            </p:cNvPr>
            <p:cNvCxnSpPr>
              <a:cxnSpLocks/>
            </p:cNvCxnSpPr>
            <p:nvPr/>
          </p:nvCxnSpPr>
          <p:spPr>
            <a:xfrm flipV="1">
              <a:off x="6046294" y="1937564"/>
              <a:ext cx="1885323" cy="6669"/>
            </a:xfrm>
            <a:prstGeom prst="line">
              <a:avLst/>
            </a:prstGeom>
            <a:ln w="9525">
              <a:solidFill>
                <a:schemeClr val="accent2"/>
              </a:solidFill>
            </a:ln>
          </p:spPr>
          <p:style>
            <a:lnRef idx="2">
              <a:schemeClr val="accent1"/>
            </a:lnRef>
            <a:fillRef idx="0">
              <a:schemeClr val="accent1"/>
            </a:fillRef>
            <a:effectRef idx="1">
              <a:schemeClr val="accent1"/>
            </a:effectRef>
            <a:fontRef idx="minor">
              <a:schemeClr val="tx1"/>
            </a:fontRef>
          </p:style>
        </p:cxnSp>
      </p:grpSp>
      <p:sp>
        <p:nvSpPr>
          <p:cNvPr id="54" name="TextBox 53">
            <a:extLst>
              <a:ext uri="{FF2B5EF4-FFF2-40B4-BE49-F238E27FC236}">
                <a16:creationId xmlns:a16="http://schemas.microsoft.com/office/drawing/2014/main" id="{3F25A61E-3BE4-7C60-7FD6-DA4DCB179BC0}"/>
              </a:ext>
            </a:extLst>
          </p:cNvPr>
          <p:cNvSpPr txBox="1"/>
          <p:nvPr/>
        </p:nvSpPr>
        <p:spPr>
          <a:xfrm>
            <a:off x="780178" y="5738203"/>
            <a:ext cx="10335669" cy="795814"/>
          </a:xfrm>
          <a:prstGeom prst="roundRect">
            <a:avLst>
              <a:gd name="adj" fmla="val 13355"/>
            </a:avLst>
          </a:prstGeom>
          <a:solidFill>
            <a:schemeClr val="tx1"/>
          </a:solidFill>
        </p:spPr>
        <p:txBody>
          <a:bodyPr wrap="square" lIns="91440" tIns="45720" rIns="91440" bIns="45720" rtlCol="0" anchor="t">
            <a:spAutoFit/>
          </a:bodyPr>
          <a:lstStyle/>
          <a:p>
            <a:pPr marL="285750" indent="-285750">
              <a:buFont typeface="Wingdings" panose="05000000000000000000" pitchFamily="2" charset="2"/>
              <a:buChar char="§"/>
            </a:pPr>
            <a:r>
              <a:rPr lang="en-US" sz="1400">
                <a:solidFill>
                  <a:schemeClr val="bg1"/>
                </a:solidFill>
              </a:rPr>
              <a:t>Nearly </a:t>
            </a:r>
            <a:r>
              <a:rPr lang="en-US" sz="1400" b="1">
                <a:solidFill>
                  <a:schemeClr val="accent1"/>
                </a:solidFill>
              </a:rPr>
              <a:t>8 in 10 </a:t>
            </a:r>
            <a:r>
              <a:rPr lang="en-US" sz="1400">
                <a:solidFill>
                  <a:schemeClr val="bg1"/>
                </a:solidFill>
              </a:rPr>
              <a:t>first-time buyers never return within 60 days - the window when product biology begins delivering results and when almost all loyalty decisions are made. </a:t>
            </a:r>
          </a:p>
          <a:p>
            <a:pPr marL="285750" indent="-285750">
              <a:buFont typeface="Wingdings" panose="05000000000000000000" pitchFamily="2" charset="2"/>
              <a:buChar char="§"/>
            </a:pPr>
            <a:r>
              <a:rPr lang="en-US" sz="1400">
                <a:solidFill>
                  <a:schemeClr val="bg1"/>
                </a:solidFill>
              </a:rPr>
              <a:t>The overall 32.4% repeat rate includes late returners; the </a:t>
            </a:r>
            <a:r>
              <a:rPr lang="en-US" sz="1400" b="1">
                <a:solidFill>
                  <a:schemeClr val="accent1"/>
                </a:solidFill>
              </a:rPr>
              <a:t>60-day rate of 18.1% </a:t>
            </a:r>
            <a:r>
              <a:rPr lang="en-US" sz="1400">
                <a:solidFill>
                  <a:schemeClr val="bg1"/>
                </a:solidFill>
              </a:rPr>
              <a:t>is the operationally critical number.</a:t>
            </a:r>
            <a:endParaRPr lang="en-US" sz="1400">
              <a:solidFill>
                <a:schemeClr val="bg1"/>
              </a:solidFill>
              <a:cs typeface="Arial"/>
            </a:endParaRPr>
          </a:p>
        </p:txBody>
      </p:sp>
      <p:grpSp>
        <p:nvGrpSpPr>
          <p:cNvPr id="14" name="Group 13">
            <a:extLst>
              <a:ext uri="{FF2B5EF4-FFF2-40B4-BE49-F238E27FC236}">
                <a16:creationId xmlns:a16="http://schemas.microsoft.com/office/drawing/2014/main" id="{697FD4AC-B70E-982F-3F9C-11A859C485EB}"/>
              </a:ext>
            </a:extLst>
          </p:cNvPr>
          <p:cNvGrpSpPr/>
          <p:nvPr/>
        </p:nvGrpSpPr>
        <p:grpSpPr>
          <a:xfrm>
            <a:off x="4467532" y="1782827"/>
            <a:ext cx="3254477" cy="1785578"/>
            <a:chOff x="4467532" y="1782827"/>
            <a:chExt cx="3254477" cy="1785578"/>
          </a:xfrm>
        </p:grpSpPr>
        <p:sp>
          <p:nvSpPr>
            <p:cNvPr id="10" name="Rectangle: Rounded Corners 9">
              <a:extLst>
                <a:ext uri="{FF2B5EF4-FFF2-40B4-BE49-F238E27FC236}">
                  <a16:creationId xmlns:a16="http://schemas.microsoft.com/office/drawing/2014/main" id="{5507A633-B30E-054B-9CF2-9F0FE4BDC09D}"/>
                </a:ext>
              </a:extLst>
            </p:cNvPr>
            <p:cNvSpPr/>
            <p:nvPr/>
          </p:nvSpPr>
          <p:spPr>
            <a:xfrm>
              <a:off x="4467532" y="1782827"/>
              <a:ext cx="3254477" cy="1785578"/>
            </a:xfrm>
            <a:prstGeom prst="roundRect">
              <a:avLst/>
            </a:prstGeom>
            <a:solidFill>
              <a:schemeClr val="bg1">
                <a:lumMod val="95000"/>
              </a:schemeClr>
            </a:solidFill>
            <a:ln>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1" name="TextBox 10">
              <a:extLst>
                <a:ext uri="{FF2B5EF4-FFF2-40B4-BE49-F238E27FC236}">
                  <a16:creationId xmlns:a16="http://schemas.microsoft.com/office/drawing/2014/main" id="{DF3A22A3-5DDD-8D7C-32B7-CC92D990A6B5}"/>
                </a:ext>
              </a:extLst>
            </p:cNvPr>
            <p:cNvSpPr txBox="1"/>
            <p:nvPr/>
          </p:nvSpPr>
          <p:spPr>
            <a:xfrm>
              <a:off x="5306347" y="1889658"/>
              <a:ext cx="1578022" cy="369332"/>
            </a:xfrm>
            <a:prstGeom prst="rect">
              <a:avLst/>
            </a:prstGeom>
            <a:noFill/>
          </p:spPr>
          <p:txBody>
            <a:bodyPr wrap="square" rtlCol="0">
              <a:spAutoFit/>
            </a:bodyPr>
            <a:lstStyle/>
            <a:p>
              <a:r>
                <a:rPr lang="en-US" b="1"/>
                <a:t>Total orders</a:t>
              </a:r>
              <a:endParaRPr lang="en-SG" b="1"/>
            </a:p>
          </p:txBody>
        </p:sp>
        <p:sp>
          <p:nvSpPr>
            <p:cNvPr id="12" name="TextBox 11">
              <a:extLst>
                <a:ext uri="{FF2B5EF4-FFF2-40B4-BE49-F238E27FC236}">
                  <a16:creationId xmlns:a16="http://schemas.microsoft.com/office/drawing/2014/main" id="{FF3AB38C-AE31-FF44-1A65-496D478A341B}"/>
                </a:ext>
              </a:extLst>
            </p:cNvPr>
            <p:cNvSpPr txBox="1"/>
            <p:nvPr/>
          </p:nvSpPr>
          <p:spPr>
            <a:xfrm>
              <a:off x="4903839" y="2474443"/>
              <a:ext cx="2379409" cy="923330"/>
            </a:xfrm>
            <a:prstGeom prst="rect">
              <a:avLst/>
            </a:prstGeom>
            <a:noFill/>
          </p:spPr>
          <p:txBody>
            <a:bodyPr wrap="square" rtlCol="0">
              <a:spAutoFit/>
            </a:bodyPr>
            <a:lstStyle/>
            <a:p>
              <a:r>
                <a:rPr lang="en-US" sz="5400" b="1">
                  <a:solidFill>
                    <a:schemeClr val="accent1"/>
                  </a:solidFill>
                </a:rPr>
                <a:t>27,350</a:t>
              </a:r>
              <a:endParaRPr lang="en-SG" sz="5400" b="1">
                <a:solidFill>
                  <a:schemeClr val="accent1"/>
                </a:solidFill>
              </a:endParaRPr>
            </a:p>
          </p:txBody>
        </p:sp>
        <p:cxnSp>
          <p:nvCxnSpPr>
            <p:cNvPr id="13" name="Straight Connector 12">
              <a:extLst>
                <a:ext uri="{FF2B5EF4-FFF2-40B4-BE49-F238E27FC236}">
                  <a16:creationId xmlns:a16="http://schemas.microsoft.com/office/drawing/2014/main" id="{3E41324E-3C83-E8B2-7BFD-78F19D8188B2}"/>
                </a:ext>
              </a:extLst>
            </p:cNvPr>
            <p:cNvCxnSpPr>
              <a:cxnSpLocks/>
            </p:cNvCxnSpPr>
            <p:nvPr/>
          </p:nvCxnSpPr>
          <p:spPr>
            <a:xfrm>
              <a:off x="5509137" y="2232407"/>
              <a:ext cx="1172796" cy="2471"/>
            </a:xfrm>
            <a:prstGeom prst="line">
              <a:avLst/>
            </a:prstGeom>
            <a:ln w="9525">
              <a:solidFill>
                <a:schemeClr val="accent2"/>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30402841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DBF5A7-F289-DD57-FAF4-16875CEC7320}"/>
            </a:ext>
          </a:extLst>
        </p:cNvPr>
        <p:cNvGrpSpPr/>
        <p:nvPr/>
      </p:nvGrpSpPr>
      <p:grpSpPr>
        <a:xfrm>
          <a:off x="0" y="0"/>
          <a:ext cx="0" cy="0"/>
          <a:chOff x="0" y="0"/>
          <a:chExt cx="0" cy="0"/>
        </a:xfrm>
      </p:grpSpPr>
      <p:cxnSp>
        <p:nvCxnSpPr>
          <p:cNvPr id="15" name="Straight Connector 14">
            <a:extLst>
              <a:ext uri="{FF2B5EF4-FFF2-40B4-BE49-F238E27FC236}">
                <a16:creationId xmlns:a16="http://schemas.microsoft.com/office/drawing/2014/main" id="{4BE5CF66-24FD-F412-0CD6-5B2DB81FEE0F}"/>
              </a:ext>
            </a:extLst>
          </p:cNvPr>
          <p:cNvCxnSpPr>
            <a:cxnSpLocks/>
          </p:cNvCxnSpPr>
          <p:nvPr/>
        </p:nvCxnSpPr>
        <p:spPr>
          <a:xfrm>
            <a:off x="2606467" y="2115084"/>
            <a:ext cx="3181884" cy="0"/>
          </a:xfrm>
          <a:prstGeom prst="line">
            <a:avLst/>
          </a:prstGeom>
          <a:ln w="9525">
            <a:solidFill>
              <a:schemeClr val="accent2"/>
            </a:solidFill>
            <a:prstDash val="sysDash"/>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A89D44C2-41E0-05AC-317E-D8E351D0DD6F}"/>
              </a:ext>
            </a:extLst>
          </p:cNvPr>
          <p:cNvSpPr>
            <a:spLocks noGrp="1"/>
          </p:cNvSpPr>
          <p:nvPr>
            <p:ph type="title"/>
          </p:nvPr>
        </p:nvSpPr>
        <p:spPr/>
        <p:txBody>
          <a:bodyPr/>
          <a:lstStyle/>
          <a:p>
            <a:r>
              <a:rPr lang="en-US" i="1"/>
              <a:t>Deep</a:t>
            </a:r>
            <a:r>
              <a:rPr lang="en-US"/>
              <a:t> discounting destroys cohort quality</a:t>
            </a:r>
            <a:endParaRPr lang="en-SG"/>
          </a:p>
        </p:txBody>
      </p:sp>
      <p:sp>
        <p:nvSpPr>
          <p:cNvPr id="6" name="TextBox 5">
            <a:extLst>
              <a:ext uri="{FF2B5EF4-FFF2-40B4-BE49-F238E27FC236}">
                <a16:creationId xmlns:a16="http://schemas.microsoft.com/office/drawing/2014/main" id="{A263B227-64CD-094A-1B26-9D05F5D640BE}"/>
              </a:ext>
            </a:extLst>
          </p:cNvPr>
          <p:cNvSpPr txBox="1"/>
          <p:nvPr/>
        </p:nvSpPr>
        <p:spPr>
          <a:xfrm>
            <a:off x="838200" y="5643029"/>
            <a:ext cx="10621710" cy="696337"/>
          </a:xfrm>
          <a:prstGeom prst="roundRect">
            <a:avLst>
              <a:gd name="adj" fmla="val 13355"/>
            </a:avLst>
          </a:prstGeom>
          <a:solidFill>
            <a:schemeClr val="tx1"/>
          </a:solidFill>
        </p:spPr>
        <p:txBody>
          <a:bodyPr wrap="square" rtlCol="0">
            <a:spAutoFit/>
          </a:bodyPr>
          <a:lstStyle/>
          <a:p>
            <a:pPr marL="171450" indent="-171450">
              <a:buFont typeface="Wingdings" panose="05000000000000000000" pitchFamily="2" charset="2"/>
              <a:buChar char="§"/>
            </a:pPr>
            <a:r>
              <a:rPr lang="en-US" sz="1200">
                <a:solidFill>
                  <a:schemeClr val="bg1"/>
                </a:solidFill>
              </a:rPr>
              <a:t>From 2021 to 2025, number of unique customers </a:t>
            </a:r>
            <a:r>
              <a:rPr lang="en-US" sz="1200" b="1">
                <a:solidFill>
                  <a:schemeClr val="accent1"/>
                </a:solidFill>
              </a:rPr>
              <a:t>increased by 8% </a:t>
            </a:r>
            <a:r>
              <a:rPr lang="en-US" sz="1200">
                <a:solidFill>
                  <a:schemeClr val="bg1"/>
                </a:solidFill>
              </a:rPr>
              <a:t>but revenue per customers </a:t>
            </a:r>
            <a:r>
              <a:rPr lang="en-US" sz="1200" b="1">
                <a:solidFill>
                  <a:srgbClr val="FF0000"/>
                </a:solidFill>
              </a:rPr>
              <a:t>reduced by 55%</a:t>
            </a:r>
          </a:p>
          <a:p>
            <a:pPr marL="171450" indent="-171450">
              <a:buFont typeface="Wingdings" panose="05000000000000000000" pitchFamily="2" charset="2"/>
              <a:buChar char="§"/>
            </a:pPr>
            <a:r>
              <a:rPr lang="en-US" sz="1200">
                <a:solidFill>
                  <a:schemeClr val="bg1"/>
                </a:solidFill>
              </a:rPr>
              <a:t>The business is acquiring </a:t>
            </a:r>
            <a:r>
              <a:rPr lang="en-US" sz="1200" b="1">
                <a:solidFill>
                  <a:schemeClr val="accent1"/>
                </a:solidFill>
              </a:rPr>
              <a:t>more customers at lower quality </a:t>
            </a:r>
            <a:r>
              <a:rPr lang="en-US" sz="1200">
                <a:solidFill>
                  <a:schemeClr val="bg1"/>
                </a:solidFill>
              </a:rPr>
              <a:t>– paying more to earn less and compounding the damage through weaker repeat buyers. </a:t>
            </a:r>
          </a:p>
          <a:p>
            <a:pPr marL="171450" indent="-171450">
              <a:buFont typeface="Wingdings" panose="05000000000000000000" pitchFamily="2" charset="2"/>
              <a:buChar char="§"/>
            </a:pPr>
            <a:r>
              <a:rPr lang="en-US" sz="1200">
                <a:solidFill>
                  <a:schemeClr val="bg1"/>
                </a:solidFill>
              </a:rPr>
              <a:t>The business has </a:t>
            </a:r>
            <a:r>
              <a:rPr lang="en-US" sz="1200" b="1">
                <a:solidFill>
                  <a:schemeClr val="accent1"/>
                </a:solidFill>
              </a:rPr>
              <a:t>more customers than ever </a:t>
            </a:r>
            <a:r>
              <a:rPr lang="en-US" sz="1200">
                <a:solidFill>
                  <a:schemeClr val="bg1"/>
                </a:solidFill>
              </a:rPr>
              <a:t>but </a:t>
            </a:r>
            <a:r>
              <a:rPr lang="en-US" sz="1200" b="1">
                <a:solidFill>
                  <a:schemeClr val="accent1"/>
                </a:solidFill>
              </a:rPr>
              <a:t>earns less than it did 4 years ago</a:t>
            </a:r>
          </a:p>
        </p:txBody>
      </p:sp>
      <p:graphicFrame>
        <p:nvGraphicFramePr>
          <p:cNvPr id="4" name="Chart 3">
            <a:extLst>
              <a:ext uri="{FF2B5EF4-FFF2-40B4-BE49-F238E27FC236}">
                <a16:creationId xmlns:a16="http://schemas.microsoft.com/office/drawing/2014/main" id="{1B0CD735-5303-50D9-6365-0367E5E02C37}"/>
              </a:ext>
            </a:extLst>
          </p:cNvPr>
          <p:cNvGraphicFramePr/>
          <p:nvPr>
            <p:extLst>
              <p:ext uri="{D42A27DB-BD31-4B8C-83A1-F6EECF244321}">
                <p14:modId xmlns:p14="http://schemas.microsoft.com/office/powerpoint/2010/main" val="965971945"/>
              </p:ext>
            </p:extLst>
          </p:nvPr>
        </p:nvGraphicFramePr>
        <p:xfrm>
          <a:off x="711200" y="1573439"/>
          <a:ext cx="6096000" cy="3792009"/>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Table 4">
            <a:extLst>
              <a:ext uri="{FF2B5EF4-FFF2-40B4-BE49-F238E27FC236}">
                <a16:creationId xmlns:a16="http://schemas.microsoft.com/office/drawing/2014/main" id="{B4EF4C20-F396-4F59-F3EC-60F118CFB85F}"/>
              </a:ext>
            </a:extLst>
          </p:cNvPr>
          <p:cNvGraphicFramePr>
            <a:graphicFrameLocks noGrp="1"/>
          </p:cNvGraphicFramePr>
          <p:nvPr/>
        </p:nvGraphicFramePr>
        <p:xfrm>
          <a:off x="1523999" y="4726816"/>
          <a:ext cx="4813908" cy="290287"/>
        </p:xfrm>
        <a:graphic>
          <a:graphicData uri="http://schemas.openxmlformats.org/drawingml/2006/table">
            <a:tbl>
              <a:tblPr firstRow="1" bandRow="1">
                <a:tableStyleId>{5C22544A-7EE6-4342-B048-85BDC9FD1C3A}</a:tableStyleId>
              </a:tblPr>
              <a:tblGrid>
                <a:gridCol w="802318">
                  <a:extLst>
                    <a:ext uri="{9D8B030D-6E8A-4147-A177-3AD203B41FA5}">
                      <a16:colId xmlns:a16="http://schemas.microsoft.com/office/drawing/2014/main" val="1086250134"/>
                    </a:ext>
                  </a:extLst>
                </a:gridCol>
                <a:gridCol w="802318">
                  <a:extLst>
                    <a:ext uri="{9D8B030D-6E8A-4147-A177-3AD203B41FA5}">
                      <a16:colId xmlns:a16="http://schemas.microsoft.com/office/drawing/2014/main" val="1051517181"/>
                    </a:ext>
                  </a:extLst>
                </a:gridCol>
                <a:gridCol w="802318">
                  <a:extLst>
                    <a:ext uri="{9D8B030D-6E8A-4147-A177-3AD203B41FA5}">
                      <a16:colId xmlns:a16="http://schemas.microsoft.com/office/drawing/2014/main" val="184260481"/>
                    </a:ext>
                  </a:extLst>
                </a:gridCol>
                <a:gridCol w="802318">
                  <a:extLst>
                    <a:ext uri="{9D8B030D-6E8A-4147-A177-3AD203B41FA5}">
                      <a16:colId xmlns:a16="http://schemas.microsoft.com/office/drawing/2014/main" val="488380260"/>
                    </a:ext>
                  </a:extLst>
                </a:gridCol>
                <a:gridCol w="802318">
                  <a:extLst>
                    <a:ext uri="{9D8B030D-6E8A-4147-A177-3AD203B41FA5}">
                      <a16:colId xmlns:a16="http://schemas.microsoft.com/office/drawing/2014/main" val="2477024427"/>
                    </a:ext>
                  </a:extLst>
                </a:gridCol>
                <a:gridCol w="802318">
                  <a:extLst>
                    <a:ext uri="{9D8B030D-6E8A-4147-A177-3AD203B41FA5}">
                      <a16:colId xmlns:a16="http://schemas.microsoft.com/office/drawing/2014/main" val="1849650595"/>
                    </a:ext>
                  </a:extLst>
                </a:gridCol>
              </a:tblGrid>
              <a:tr h="290287">
                <a:tc>
                  <a:txBody>
                    <a:bodyPr/>
                    <a:lstStyle/>
                    <a:p>
                      <a:pPr algn="ctr"/>
                      <a:r>
                        <a:rPr lang="en-US" sz="1100" b="0">
                          <a:solidFill>
                            <a:sysClr val="windowText" lastClr="000000"/>
                          </a:solidFill>
                        </a:rPr>
                        <a:t>1,696</a:t>
                      </a:r>
                      <a:endParaRPr lang="en-SG" sz="1100" b="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100" b="0">
                          <a:solidFill>
                            <a:sysClr val="windowText" lastClr="000000"/>
                          </a:solidFill>
                        </a:rPr>
                        <a:t>3,815</a:t>
                      </a:r>
                      <a:endParaRPr lang="en-SG" sz="1100" b="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100" b="0">
                          <a:solidFill>
                            <a:sysClr val="windowText" lastClr="000000"/>
                          </a:solidFill>
                        </a:rPr>
                        <a:t>2,299</a:t>
                      </a:r>
                      <a:endParaRPr lang="en-SG" sz="1100" b="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100" b="0">
                          <a:solidFill>
                            <a:sysClr val="windowText" lastClr="000000"/>
                          </a:solidFill>
                        </a:rPr>
                        <a:t>1,399</a:t>
                      </a:r>
                      <a:endParaRPr lang="en-SG" sz="1100" b="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100" b="0">
                          <a:solidFill>
                            <a:sysClr val="windowText" lastClr="000000"/>
                          </a:solidFill>
                        </a:rPr>
                        <a:t>2,621</a:t>
                      </a:r>
                      <a:endParaRPr lang="en-SG" sz="1100" b="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100" b="0">
                          <a:solidFill>
                            <a:sysClr val="windowText" lastClr="000000"/>
                          </a:solidFill>
                        </a:rPr>
                        <a:t>4,107</a:t>
                      </a:r>
                      <a:endParaRPr lang="en-SG" sz="1100" b="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83130756"/>
                  </a:ext>
                </a:extLst>
              </a:tr>
            </a:tbl>
          </a:graphicData>
        </a:graphic>
      </p:graphicFrame>
      <p:sp>
        <p:nvSpPr>
          <p:cNvPr id="7" name="TextBox 6">
            <a:extLst>
              <a:ext uri="{FF2B5EF4-FFF2-40B4-BE49-F238E27FC236}">
                <a16:creationId xmlns:a16="http://schemas.microsoft.com/office/drawing/2014/main" id="{660DB38C-8E1C-311C-DA78-1B19CB957AC8}"/>
              </a:ext>
            </a:extLst>
          </p:cNvPr>
          <p:cNvSpPr txBox="1"/>
          <p:nvPr/>
        </p:nvSpPr>
        <p:spPr>
          <a:xfrm>
            <a:off x="670950" y="4666968"/>
            <a:ext cx="934241" cy="415498"/>
          </a:xfrm>
          <a:prstGeom prst="rect">
            <a:avLst/>
          </a:prstGeom>
          <a:noFill/>
        </p:spPr>
        <p:txBody>
          <a:bodyPr wrap="square" lIns="91440" tIns="45720" rIns="91440" bIns="45720" rtlCol="0" anchor="t">
            <a:spAutoFit/>
          </a:bodyPr>
          <a:lstStyle/>
          <a:p>
            <a:r>
              <a:rPr lang="en-US" sz="1050">
                <a:cs typeface="Arial"/>
              </a:rPr>
              <a:t># of Unique Customers</a:t>
            </a:r>
          </a:p>
        </p:txBody>
      </p:sp>
      <p:graphicFrame>
        <p:nvGraphicFramePr>
          <p:cNvPr id="13" name="Chart 12">
            <a:extLst>
              <a:ext uri="{FF2B5EF4-FFF2-40B4-BE49-F238E27FC236}">
                <a16:creationId xmlns:a16="http://schemas.microsoft.com/office/drawing/2014/main" id="{FAF9E4C4-4B38-E17B-7EEA-A502A102F0B5}"/>
              </a:ext>
            </a:extLst>
          </p:cNvPr>
          <p:cNvGraphicFramePr/>
          <p:nvPr>
            <p:extLst>
              <p:ext uri="{D42A27DB-BD31-4B8C-83A1-F6EECF244321}">
                <p14:modId xmlns:p14="http://schemas.microsoft.com/office/powerpoint/2010/main" val="519507953"/>
              </p:ext>
            </p:extLst>
          </p:nvPr>
        </p:nvGraphicFramePr>
        <p:xfrm>
          <a:off x="7150706" y="1505778"/>
          <a:ext cx="4581677" cy="3758142"/>
        </p:xfrm>
        <a:graphic>
          <a:graphicData uri="http://schemas.openxmlformats.org/drawingml/2006/chart">
            <c:chart xmlns:c="http://schemas.openxmlformats.org/drawingml/2006/chart" xmlns:r="http://schemas.openxmlformats.org/officeDocument/2006/relationships" r:id="rId4"/>
          </a:graphicData>
        </a:graphic>
      </p:graphicFrame>
      <p:cxnSp>
        <p:nvCxnSpPr>
          <p:cNvPr id="8" name="Straight Connector 7">
            <a:extLst>
              <a:ext uri="{FF2B5EF4-FFF2-40B4-BE49-F238E27FC236}">
                <a16:creationId xmlns:a16="http://schemas.microsoft.com/office/drawing/2014/main" id="{07D297C3-7EC7-E4CC-6195-970C7D860566}"/>
              </a:ext>
            </a:extLst>
          </p:cNvPr>
          <p:cNvCxnSpPr>
            <a:cxnSpLocks/>
          </p:cNvCxnSpPr>
          <p:nvPr/>
        </p:nvCxnSpPr>
        <p:spPr>
          <a:xfrm>
            <a:off x="2606467" y="2115084"/>
            <a:ext cx="0" cy="76912"/>
          </a:xfrm>
          <a:prstGeom prst="line">
            <a:avLst/>
          </a:prstGeom>
          <a:ln w="9525">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20988239-F4F3-7212-6828-E244130FB98E}"/>
              </a:ext>
            </a:extLst>
          </p:cNvPr>
          <p:cNvCxnSpPr>
            <a:cxnSpLocks/>
          </p:cNvCxnSpPr>
          <p:nvPr/>
        </p:nvCxnSpPr>
        <p:spPr>
          <a:xfrm>
            <a:off x="5788351" y="2115084"/>
            <a:ext cx="0" cy="1216352"/>
          </a:xfrm>
          <a:prstGeom prst="line">
            <a:avLst/>
          </a:prstGeom>
          <a:ln w="9525">
            <a:solidFill>
              <a:schemeClr val="accent2"/>
            </a:solidFill>
            <a:prstDash val="sysDash"/>
            <a:headEnd type="non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8A51C3E4-45C3-AC51-6F9A-7F3FF51F99D8}"/>
              </a:ext>
            </a:extLst>
          </p:cNvPr>
          <p:cNvSpPr txBox="1"/>
          <p:nvPr/>
        </p:nvSpPr>
        <p:spPr>
          <a:xfrm>
            <a:off x="4024712" y="1988126"/>
            <a:ext cx="521291" cy="253916"/>
          </a:xfrm>
          <a:prstGeom prst="rect">
            <a:avLst/>
          </a:prstGeom>
          <a:noFill/>
        </p:spPr>
        <p:txBody>
          <a:bodyPr wrap="square" rtlCol="0">
            <a:spAutoFit/>
          </a:bodyPr>
          <a:lstStyle/>
          <a:p>
            <a:r>
              <a:rPr lang="en-US" sz="1050">
                <a:solidFill>
                  <a:srgbClr val="FF0000"/>
                </a:solidFill>
              </a:rPr>
              <a:t>-52%</a:t>
            </a:r>
            <a:endParaRPr lang="en-SG" sz="1050">
              <a:solidFill>
                <a:srgbClr val="FF0000"/>
              </a:solidFill>
            </a:endParaRPr>
          </a:p>
        </p:txBody>
      </p:sp>
      <p:cxnSp>
        <p:nvCxnSpPr>
          <p:cNvPr id="21" name="Straight Connector 20">
            <a:extLst>
              <a:ext uri="{FF2B5EF4-FFF2-40B4-BE49-F238E27FC236}">
                <a16:creationId xmlns:a16="http://schemas.microsoft.com/office/drawing/2014/main" id="{69FE2D0C-11D6-1B1C-7AB5-E2FE2E664635}"/>
              </a:ext>
            </a:extLst>
          </p:cNvPr>
          <p:cNvCxnSpPr>
            <a:cxnSpLocks/>
          </p:cNvCxnSpPr>
          <p:nvPr/>
        </p:nvCxnSpPr>
        <p:spPr>
          <a:xfrm>
            <a:off x="8520157" y="2115084"/>
            <a:ext cx="0" cy="380288"/>
          </a:xfrm>
          <a:prstGeom prst="line">
            <a:avLst/>
          </a:prstGeom>
          <a:ln w="9525">
            <a:solidFill>
              <a:schemeClr val="accent2"/>
            </a:solidFill>
            <a:prstDash val="sysDash"/>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E5F4D129-07E0-EE23-E9D4-602670AAF910}"/>
              </a:ext>
            </a:extLst>
          </p:cNvPr>
          <p:cNvCxnSpPr>
            <a:cxnSpLocks/>
          </p:cNvCxnSpPr>
          <p:nvPr/>
        </p:nvCxnSpPr>
        <p:spPr>
          <a:xfrm>
            <a:off x="11053984" y="2115084"/>
            <a:ext cx="0" cy="229313"/>
          </a:xfrm>
          <a:prstGeom prst="line">
            <a:avLst/>
          </a:prstGeom>
          <a:ln w="9525">
            <a:solidFill>
              <a:schemeClr val="accent2"/>
            </a:solidFill>
            <a:prstDash val="sysDash"/>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F726C044-B6B4-1DA5-028F-46A202FDCAEA}"/>
              </a:ext>
            </a:extLst>
          </p:cNvPr>
          <p:cNvCxnSpPr>
            <a:cxnSpLocks/>
          </p:cNvCxnSpPr>
          <p:nvPr/>
        </p:nvCxnSpPr>
        <p:spPr>
          <a:xfrm>
            <a:off x="8511611" y="2115084"/>
            <a:ext cx="2533828" cy="0"/>
          </a:xfrm>
          <a:prstGeom prst="line">
            <a:avLst/>
          </a:prstGeom>
          <a:ln w="9525">
            <a:solidFill>
              <a:schemeClr val="accent2"/>
            </a:solidFill>
            <a:prstDash val="sysDash"/>
          </a:ln>
        </p:spPr>
        <p:style>
          <a:lnRef idx="2">
            <a:schemeClr val="accent1"/>
          </a:lnRef>
          <a:fillRef idx="0">
            <a:schemeClr val="accent1"/>
          </a:fillRef>
          <a:effectRef idx="1">
            <a:schemeClr val="accent1"/>
          </a:effectRef>
          <a:fontRef idx="minor">
            <a:schemeClr val="tx1"/>
          </a:fontRef>
        </p:style>
      </p:cxnSp>
      <p:sp>
        <p:nvSpPr>
          <p:cNvPr id="32" name="Oval 31">
            <a:extLst>
              <a:ext uri="{FF2B5EF4-FFF2-40B4-BE49-F238E27FC236}">
                <a16:creationId xmlns:a16="http://schemas.microsoft.com/office/drawing/2014/main" id="{A53836D3-973E-F420-2288-DA0481CB0FBC}"/>
              </a:ext>
            </a:extLst>
          </p:cNvPr>
          <p:cNvSpPr/>
          <p:nvPr/>
        </p:nvSpPr>
        <p:spPr>
          <a:xfrm>
            <a:off x="9585533" y="2008310"/>
            <a:ext cx="527346" cy="229312"/>
          </a:xfrm>
          <a:prstGeom prst="ellipse">
            <a:avLst/>
          </a:prstGeom>
          <a:solidFill>
            <a:schemeClr val="bg1">
              <a:lumMod val="95000"/>
            </a:schemeClr>
          </a:solid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3" name="TextBox 32">
            <a:extLst>
              <a:ext uri="{FF2B5EF4-FFF2-40B4-BE49-F238E27FC236}">
                <a16:creationId xmlns:a16="http://schemas.microsoft.com/office/drawing/2014/main" id="{3F42D18B-127C-A413-B02A-D42AF3EC47A1}"/>
              </a:ext>
            </a:extLst>
          </p:cNvPr>
          <p:cNvSpPr txBox="1"/>
          <p:nvPr/>
        </p:nvSpPr>
        <p:spPr>
          <a:xfrm>
            <a:off x="9599421" y="1988126"/>
            <a:ext cx="521291" cy="253916"/>
          </a:xfrm>
          <a:prstGeom prst="rect">
            <a:avLst/>
          </a:prstGeom>
          <a:noFill/>
        </p:spPr>
        <p:txBody>
          <a:bodyPr wrap="square" rtlCol="0">
            <a:spAutoFit/>
          </a:bodyPr>
          <a:lstStyle/>
          <a:p>
            <a:r>
              <a:rPr lang="en-US" sz="1050" b="1">
                <a:solidFill>
                  <a:schemeClr val="accent1">
                    <a:lumMod val="75000"/>
                  </a:schemeClr>
                </a:solidFill>
              </a:rPr>
              <a:t>+8%</a:t>
            </a:r>
            <a:endParaRPr lang="en-SG" sz="1050" b="1">
              <a:solidFill>
                <a:schemeClr val="accent1">
                  <a:lumMod val="75000"/>
                </a:schemeClr>
              </a:solidFill>
            </a:endParaRPr>
          </a:p>
        </p:txBody>
      </p:sp>
      <p:cxnSp>
        <p:nvCxnSpPr>
          <p:cNvPr id="37" name="Straight Connector 36">
            <a:extLst>
              <a:ext uri="{FF2B5EF4-FFF2-40B4-BE49-F238E27FC236}">
                <a16:creationId xmlns:a16="http://schemas.microsoft.com/office/drawing/2014/main" id="{8BC4B53C-C7A2-5522-BC72-C6E991CEBFF0}"/>
              </a:ext>
            </a:extLst>
          </p:cNvPr>
          <p:cNvCxnSpPr>
            <a:cxnSpLocks/>
          </p:cNvCxnSpPr>
          <p:nvPr/>
        </p:nvCxnSpPr>
        <p:spPr>
          <a:xfrm>
            <a:off x="8520157" y="3042306"/>
            <a:ext cx="2525282" cy="914397"/>
          </a:xfrm>
          <a:prstGeom prst="line">
            <a:avLst/>
          </a:prstGeom>
          <a:ln w="9525">
            <a:solidFill>
              <a:schemeClr val="tx2">
                <a:lumMod val="60000"/>
                <a:lumOff val="40000"/>
              </a:schemeClr>
            </a:solidFill>
            <a:prstDash val="sysDash"/>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42" name="Oval 41">
            <a:extLst>
              <a:ext uri="{FF2B5EF4-FFF2-40B4-BE49-F238E27FC236}">
                <a16:creationId xmlns:a16="http://schemas.microsoft.com/office/drawing/2014/main" id="{6BE36B27-FD54-AB1B-BB37-3CBACBDA7C44}"/>
              </a:ext>
            </a:extLst>
          </p:cNvPr>
          <p:cNvSpPr/>
          <p:nvPr/>
        </p:nvSpPr>
        <p:spPr>
          <a:xfrm>
            <a:off x="9778525" y="3436372"/>
            <a:ext cx="473142" cy="245078"/>
          </a:xfrm>
          <a:prstGeom prst="ellipse">
            <a:avLst/>
          </a:prstGeom>
          <a:solidFill>
            <a:schemeClr val="bg1">
              <a:lumMod val="95000"/>
            </a:schemeClr>
          </a:solid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43" name="TextBox 42">
            <a:extLst>
              <a:ext uri="{FF2B5EF4-FFF2-40B4-BE49-F238E27FC236}">
                <a16:creationId xmlns:a16="http://schemas.microsoft.com/office/drawing/2014/main" id="{48D699A2-E7A8-D6CF-45F5-16032BDE2523}"/>
              </a:ext>
            </a:extLst>
          </p:cNvPr>
          <p:cNvSpPr txBox="1"/>
          <p:nvPr/>
        </p:nvSpPr>
        <p:spPr>
          <a:xfrm>
            <a:off x="9761661" y="3431953"/>
            <a:ext cx="521291" cy="253916"/>
          </a:xfrm>
          <a:prstGeom prst="rect">
            <a:avLst/>
          </a:prstGeom>
          <a:noFill/>
        </p:spPr>
        <p:txBody>
          <a:bodyPr wrap="square" rtlCol="0">
            <a:spAutoFit/>
          </a:bodyPr>
          <a:lstStyle/>
          <a:p>
            <a:r>
              <a:rPr lang="en-US" sz="1050" b="1">
                <a:solidFill>
                  <a:srgbClr val="FF0000"/>
                </a:solidFill>
              </a:rPr>
              <a:t>-55%</a:t>
            </a:r>
            <a:endParaRPr lang="en-SG" sz="1050" b="1">
              <a:solidFill>
                <a:srgbClr val="FF0000"/>
              </a:solidFill>
            </a:endParaRPr>
          </a:p>
        </p:txBody>
      </p:sp>
      <p:sp>
        <p:nvSpPr>
          <p:cNvPr id="3" name="TextBox 2">
            <a:extLst>
              <a:ext uri="{FF2B5EF4-FFF2-40B4-BE49-F238E27FC236}">
                <a16:creationId xmlns:a16="http://schemas.microsoft.com/office/drawing/2014/main" id="{9989B50E-50A0-BD49-AB78-593D2CA31A1C}"/>
              </a:ext>
            </a:extLst>
          </p:cNvPr>
          <p:cNvSpPr txBox="1"/>
          <p:nvPr/>
        </p:nvSpPr>
        <p:spPr>
          <a:xfrm>
            <a:off x="53055" y="6573762"/>
            <a:ext cx="6096000"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a:t>*% Discounted of Gross Revenue = Discount Given ÷ (Price: Total + Discount Given)</a:t>
            </a:r>
          </a:p>
        </p:txBody>
      </p:sp>
      <p:sp>
        <p:nvSpPr>
          <p:cNvPr id="16" name="Oval 15">
            <a:extLst>
              <a:ext uri="{FF2B5EF4-FFF2-40B4-BE49-F238E27FC236}">
                <a16:creationId xmlns:a16="http://schemas.microsoft.com/office/drawing/2014/main" id="{6812D7BF-32C8-11C4-C572-434EDD097C49}"/>
              </a:ext>
            </a:extLst>
          </p:cNvPr>
          <p:cNvSpPr/>
          <p:nvPr/>
        </p:nvSpPr>
        <p:spPr>
          <a:xfrm>
            <a:off x="8511611" y="3042306"/>
            <a:ext cx="45719" cy="45720"/>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7" name="Oval 16">
            <a:extLst>
              <a:ext uri="{FF2B5EF4-FFF2-40B4-BE49-F238E27FC236}">
                <a16:creationId xmlns:a16="http://schemas.microsoft.com/office/drawing/2014/main" id="{3F6D96CD-4607-97FA-E7D0-F8B3A2F1B21C}"/>
              </a:ext>
            </a:extLst>
          </p:cNvPr>
          <p:cNvSpPr/>
          <p:nvPr/>
        </p:nvSpPr>
        <p:spPr>
          <a:xfrm>
            <a:off x="11031125" y="3933843"/>
            <a:ext cx="45719" cy="45720"/>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32211229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278FD4-CF12-82A9-4D65-5A2F33EB14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A4A276-F41E-1ED5-1FDC-6A3F890CA2A7}"/>
              </a:ext>
            </a:extLst>
          </p:cNvPr>
          <p:cNvSpPr>
            <a:spLocks noGrp="1"/>
          </p:cNvSpPr>
          <p:nvPr>
            <p:ph type="title"/>
          </p:nvPr>
        </p:nvSpPr>
        <p:spPr/>
        <p:txBody>
          <a:bodyPr/>
          <a:lstStyle/>
          <a:p>
            <a:r>
              <a:rPr lang="en-US" i="1"/>
              <a:t>Deep</a:t>
            </a:r>
            <a:r>
              <a:rPr lang="en-US"/>
              <a:t> discount destroys loyalty?</a:t>
            </a:r>
            <a:endParaRPr lang="en-SG"/>
          </a:p>
        </p:txBody>
      </p:sp>
      <p:sp>
        <p:nvSpPr>
          <p:cNvPr id="6" name="TextBox 5">
            <a:extLst>
              <a:ext uri="{FF2B5EF4-FFF2-40B4-BE49-F238E27FC236}">
                <a16:creationId xmlns:a16="http://schemas.microsoft.com/office/drawing/2014/main" id="{B76E0E66-6E8B-DFC1-7B4C-EF9C8138F2B9}"/>
              </a:ext>
            </a:extLst>
          </p:cNvPr>
          <p:cNvSpPr txBox="1"/>
          <p:nvPr/>
        </p:nvSpPr>
        <p:spPr>
          <a:xfrm>
            <a:off x="636204" y="5116780"/>
            <a:ext cx="6665678" cy="1376095"/>
          </a:xfrm>
          <a:prstGeom prst="roundRect">
            <a:avLst>
              <a:gd name="adj" fmla="val 13355"/>
            </a:avLst>
          </a:prstGeom>
          <a:solidFill>
            <a:schemeClr val="tx1"/>
          </a:solidFill>
        </p:spPr>
        <p:txBody>
          <a:bodyPr wrap="square" rtlCol="0">
            <a:spAutoFit/>
          </a:bodyPr>
          <a:lstStyle/>
          <a:p>
            <a:pPr marL="171450" indent="-171450">
              <a:buFont typeface="Arial" panose="020B0604020202020204" pitchFamily="34" charset="0"/>
              <a:buChar char="•"/>
            </a:pPr>
            <a:r>
              <a:rPr lang="en-US" sz="1100">
                <a:solidFill>
                  <a:schemeClr val="bg1"/>
                </a:solidFill>
              </a:rPr>
              <a:t>Generally, people who received higher discounts are </a:t>
            </a:r>
            <a:r>
              <a:rPr lang="en-US" sz="1100" b="1">
                <a:solidFill>
                  <a:schemeClr val="accent1"/>
                </a:solidFill>
              </a:rPr>
              <a:t>less likely </a:t>
            </a:r>
            <a:r>
              <a:rPr lang="en-US" sz="1100">
                <a:solidFill>
                  <a:schemeClr val="bg1"/>
                </a:solidFill>
              </a:rPr>
              <a:t>to become full-price repeat purchases</a:t>
            </a:r>
          </a:p>
          <a:p>
            <a:pPr marL="171450" indent="-171450">
              <a:buFont typeface="Arial" panose="020B0604020202020204" pitchFamily="34" charset="0"/>
              <a:buChar char="•"/>
            </a:pPr>
            <a:r>
              <a:rPr lang="en-US" sz="1100">
                <a:solidFill>
                  <a:schemeClr val="bg1"/>
                </a:solidFill>
              </a:rPr>
              <a:t>However, we do see that for second-order purchases, having a </a:t>
            </a:r>
            <a:r>
              <a:rPr lang="en-US" sz="1100" b="1">
                <a:solidFill>
                  <a:schemeClr val="accent1"/>
                </a:solidFill>
              </a:rPr>
              <a:t>moderate discount (&lt; 30% off) </a:t>
            </a:r>
            <a:r>
              <a:rPr lang="en-US" sz="1100">
                <a:solidFill>
                  <a:schemeClr val="bg1"/>
                </a:solidFill>
              </a:rPr>
              <a:t>generated better revenue than full-price converts</a:t>
            </a:r>
          </a:p>
          <a:p>
            <a:pPr marL="171450" indent="-171450">
              <a:buFont typeface="Arial" panose="020B0604020202020204" pitchFamily="34" charset="0"/>
              <a:buChar char="•"/>
            </a:pPr>
            <a:r>
              <a:rPr lang="en-US" sz="1100">
                <a:solidFill>
                  <a:schemeClr val="bg1"/>
                </a:solidFill>
              </a:rPr>
              <a:t>Promotional campaign that uses </a:t>
            </a:r>
            <a:r>
              <a:rPr lang="en-US" sz="1100" b="1">
                <a:solidFill>
                  <a:schemeClr val="accent1"/>
                </a:solidFill>
              </a:rPr>
              <a:t>deep discounts </a:t>
            </a:r>
            <a:r>
              <a:rPr lang="en-US" sz="1100">
                <a:solidFill>
                  <a:schemeClr val="bg1"/>
                </a:solidFill>
              </a:rPr>
              <a:t>(&gt;30% off) is acquiring cohorts that are materially </a:t>
            </a:r>
            <a:r>
              <a:rPr lang="en-US" sz="1100" b="1">
                <a:solidFill>
                  <a:schemeClr val="accent1"/>
                </a:solidFill>
              </a:rPr>
              <a:t>less loyal and less profitable</a:t>
            </a:r>
            <a:r>
              <a:rPr lang="en-US" sz="1100">
                <a:solidFill>
                  <a:schemeClr val="bg1"/>
                </a:solidFill>
              </a:rPr>
              <a:t> over time. The brand is spending margin to attract weaker customers.</a:t>
            </a:r>
          </a:p>
        </p:txBody>
      </p:sp>
      <p:pic>
        <p:nvPicPr>
          <p:cNvPr id="9" name="Picture 8">
            <a:extLst>
              <a:ext uri="{FF2B5EF4-FFF2-40B4-BE49-F238E27FC236}">
                <a16:creationId xmlns:a16="http://schemas.microsoft.com/office/drawing/2014/main" id="{DECC582B-3D28-309C-2D67-F1E62B1384DD}"/>
              </a:ext>
            </a:extLst>
          </p:cNvPr>
          <p:cNvPicPr>
            <a:picLocks noChangeAspect="1"/>
          </p:cNvPicPr>
          <p:nvPr/>
        </p:nvPicPr>
        <p:blipFill>
          <a:blip r:embed="rId3"/>
          <a:stretch>
            <a:fillRect/>
          </a:stretch>
        </p:blipFill>
        <p:spPr>
          <a:xfrm>
            <a:off x="838200" y="1563939"/>
            <a:ext cx="6261687" cy="3415466"/>
          </a:xfrm>
          <a:prstGeom prst="rect">
            <a:avLst/>
          </a:prstGeom>
        </p:spPr>
      </p:pic>
      <p:pic>
        <p:nvPicPr>
          <p:cNvPr id="11" name="Picture 10">
            <a:extLst>
              <a:ext uri="{FF2B5EF4-FFF2-40B4-BE49-F238E27FC236}">
                <a16:creationId xmlns:a16="http://schemas.microsoft.com/office/drawing/2014/main" id="{9F5BF1F6-C2D4-AE00-AEF1-11A92BFFB9CB}"/>
              </a:ext>
            </a:extLst>
          </p:cNvPr>
          <p:cNvPicPr>
            <a:picLocks noChangeAspect="1"/>
          </p:cNvPicPr>
          <p:nvPr/>
        </p:nvPicPr>
        <p:blipFill>
          <a:blip r:embed="rId4"/>
          <a:stretch>
            <a:fillRect/>
          </a:stretch>
        </p:blipFill>
        <p:spPr>
          <a:xfrm>
            <a:off x="7577811" y="1299411"/>
            <a:ext cx="3932917" cy="5350042"/>
          </a:xfrm>
          <a:prstGeom prst="rect">
            <a:avLst/>
          </a:prstGeom>
        </p:spPr>
      </p:pic>
    </p:spTree>
    <p:extLst>
      <p:ext uri="{BB962C8B-B14F-4D97-AF65-F5344CB8AC3E}">
        <p14:creationId xmlns:p14="http://schemas.microsoft.com/office/powerpoint/2010/main" val="14694940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12B980-74C7-328A-1939-804673BCBC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ADDB77-0523-887A-3340-4D7DF1C40996}"/>
              </a:ext>
            </a:extLst>
          </p:cNvPr>
          <p:cNvSpPr>
            <a:spLocks noGrp="1"/>
          </p:cNvSpPr>
          <p:nvPr>
            <p:ph type="title"/>
          </p:nvPr>
        </p:nvSpPr>
        <p:spPr/>
        <p:txBody>
          <a:bodyPr/>
          <a:lstStyle/>
          <a:p>
            <a:r>
              <a:rPr lang="en-US"/>
              <a:t>Time to second purchase</a:t>
            </a:r>
            <a:endParaRPr lang="en-SG"/>
          </a:p>
        </p:txBody>
      </p:sp>
      <p:sp>
        <p:nvSpPr>
          <p:cNvPr id="6" name="TextBox 5">
            <a:extLst>
              <a:ext uri="{FF2B5EF4-FFF2-40B4-BE49-F238E27FC236}">
                <a16:creationId xmlns:a16="http://schemas.microsoft.com/office/drawing/2014/main" id="{504A7D7A-D502-04DE-C2D7-A7872D7D8E4C}"/>
              </a:ext>
            </a:extLst>
          </p:cNvPr>
          <p:cNvSpPr txBox="1"/>
          <p:nvPr/>
        </p:nvSpPr>
        <p:spPr>
          <a:xfrm>
            <a:off x="741966" y="5871311"/>
            <a:ext cx="10708067" cy="746075"/>
          </a:xfrm>
          <a:prstGeom prst="roundRect">
            <a:avLst>
              <a:gd name="adj" fmla="val 13355"/>
            </a:avLst>
          </a:prstGeom>
          <a:solidFill>
            <a:schemeClr val="tx1"/>
          </a:solidFill>
        </p:spPr>
        <p:txBody>
          <a:bodyPr wrap="square" lIns="91440" tIns="45720" rIns="91440" bIns="45720" rtlCol="0" anchor="t">
            <a:spAutoFit/>
          </a:bodyPr>
          <a:lstStyle/>
          <a:p>
            <a:pPr marL="285750" indent="-285750">
              <a:buClr>
                <a:schemeClr val="bg1"/>
              </a:buClr>
              <a:buFont typeface="Wingdings" panose="05000000000000000000" pitchFamily="2" charset="2"/>
              <a:buChar char="§"/>
            </a:pPr>
            <a:r>
              <a:rPr lang="en-US" sz="1300" b="1">
                <a:solidFill>
                  <a:schemeClr val="accent1"/>
                </a:solidFill>
              </a:rPr>
              <a:t>41%</a:t>
            </a:r>
            <a:r>
              <a:rPr lang="en-US" sz="1300">
                <a:solidFill>
                  <a:schemeClr val="bg1"/>
                </a:solidFill>
              </a:rPr>
              <a:t> of customers who ever come back do so </a:t>
            </a:r>
            <a:r>
              <a:rPr lang="en-US" sz="1300" b="1">
                <a:solidFill>
                  <a:schemeClr val="accent1"/>
                </a:solidFill>
              </a:rPr>
              <a:t>within 60 days</a:t>
            </a:r>
            <a:r>
              <a:rPr lang="en-US" sz="1300">
                <a:solidFill>
                  <a:schemeClr val="bg1"/>
                </a:solidFill>
              </a:rPr>
              <a:t>. </a:t>
            </a:r>
          </a:p>
          <a:p>
            <a:pPr marL="285750" indent="-285750">
              <a:buClr>
                <a:schemeClr val="bg1"/>
              </a:buClr>
              <a:buFont typeface="Wingdings" panose="05000000000000000000" pitchFamily="2" charset="2"/>
              <a:buChar char="§"/>
            </a:pPr>
            <a:r>
              <a:rPr lang="en-US" sz="1300">
                <a:solidFill>
                  <a:schemeClr val="bg1"/>
                </a:solidFill>
              </a:rPr>
              <a:t>The </a:t>
            </a:r>
            <a:r>
              <a:rPr lang="en-US" sz="1300" b="1">
                <a:solidFill>
                  <a:schemeClr val="accent1"/>
                </a:solidFill>
              </a:rPr>
              <a:t>61–90 day </a:t>
            </a:r>
            <a:r>
              <a:rPr lang="en-US" sz="1300">
                <a:solidFill>
                  <a:schemeClr val="bg1"/>
                </a:solidFill>
              </a:rPr>
              <a:t>window is the </a:t>
            </a:r>
            <a:r>
              <a:rPr lang="en-US" sz="1300" b="1">
                <a:solidFill>
                  <a:schemeClr val="accent1"/>
                </a:solidFill>
              </a:rPr>
              <a:t>largest single repurchase </a:t>
            </a:r>
            <a:r>
              <a:rPr lang="en-US" sz="1300">
                <a:solidFill>
                  <a:schemeClr val="bg1"/>
                </a:solidFill>
              </a:rPr>
              <a:t>bucket within the first year. </a:t>
            </a:r>
            <a:endParaRPr lang="en-US" sz="1300">
              <a:solidFill>
                <a:schemeClr val="bg1"/>
              </a:solidFill>
              <a:cs typeface="Arial"/>
            </a:endParaRPr>
          </a:p>
          <a:p>
            <a:pPr marL="285750" indent="-285750">
              <a:buClr>
                <a:schemeClr val="bg1"/>
              </a:buClr>
              <a:buFont typeface="Wingdings" panose="05000000000000000000" pitchFamily="2" charset="2"/>
              <a:buChar char="§"/>
            </a:pPr>
            <a:r>
              <a:rPr lang="en-US" sz="1300" b="1">
                <a:solidFill>
                  <a:schemeClr val="accent1"/>
                </a:solidFill>
              </a:rPr>
              <a:t>51</a:t>
            </a:r>
            <a:r>
              <a:rPr lang="en-US" sz="1300" b="1">
                <a:solidFill>
                  <a:schemeClr val="accent1"/>
                </a:solidFill>
                <a:ea typeface="+mn-lt"/>
                <a:cs typeface="+mn-lt"/>
              </a:rPr>
              <a:t>% of all repeat buyers</a:t>
            </a:r>
            <a:r>
              <a:rPr lang="en-US" sz="1300">
                <a:solidFill>
                  <a:schemeClr val="accent1"/>
                </a:solidFill>
                <a:ea typeface="+mn-lt"/>
                <a:cs typeface="+mn-lt"/>
              </a:rPr>
              <a:t> </a:t>
            </a:r>
            <a:r>
              <a:rPr lang="en-US" sz="1300">
                <a:solidFill>
                  <a:schemeClr val="bg1"/>
                </a:solidFill>
                <a:ea typeface="+mn-lt"/>
                <a:cs typeface="+mn-lt"/>
              </a:rPr>
              <a:t>return within 90 days</a:t>
            </a:r>
            <a:r>
              <a:rPr lang="en-US" sz="1300">
                <a:solidFill>
                  <a:schemeClr val="bg1"/>
                </a:solidFill>
              </a:rPr>
              <a:t>. </a:t>
            </a:r>
            <a:endParaRPr lang="en-US" sz="1300">
              <a:solidFill>
                <a:schemeClr val="bg1"/>
              </a:solidFill>
              <a:cs typeface="Arial"/>
            </a:endParaRPr>
          </a:p>
        </p:txBody>
      </p:sp>
      <p:pic>
        <p:nvPicPr>
          <p:cNvPr id="7" name="Picture 6">
            <a:extLst>
              <a:ext uri="{FF2B5EF4-FFF2-40B4-BE49-F238E27FC236}">
                <a16:creationId xmlns:a16="http://schemas.microsoft.com/office/drawing/2014/main" id="{E7C79869-235E-84A0-0172-619EC9AD1DE3}"/>
              </a:ext>
            </a:extLst>
          </p:cNvPr>
          <p:cNvPicPr>
            <a:picLocks noChangeAspect="1"/>
          </p:cNvPicPr>
          <p:nvPr/>
        </p:nvPicPr>
        <p:blipFill>
          <a:blip r:embed="rId3"/>
          <a:stretch>
            <a:fillRect/>
          </a:stretch>
        </p:blipFill>
        <p:spPr>
          <a:xfrm>
            <a:off x="1386348" y="1546505"/>
            <a:ext cx="9214792" cy="4150173"/>
          </a:xfrm>
          <a:prstGeom prst="rect">
            <a:avLst/>
          </a:prstGeom>
        </p:spPr>
      </p:pic>
    </p:spTree>
    <p:extLst>
      <p:ext uri="{BB962C8B-B14F-4D97-AF65-F5344CB8AC3E}">
        <p14:creationId xmlns:p14="http://schemas.microsoft.com/office/powerpoint/2010/main" val="9546208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46533B4A-7D4C-D164-707F-1377548A278C}"/>
              </a:ext>
            </a:extLst>
          </p:cNvPr>
          <p:cNvSpPr>
            <a:spLocks noGrp="1"/>
          </p:cNvSpPr>
          <p:nvPr>
            <p:ph type="title"/>
          </p:nvPr>
        </p:nvSpPr>
        <p:spPr>
          <a:xfrm>
            <a:off x="266700" y="-9922"/>
            <a:ext cx="10515600" cy="1325563"/>
          </a:xfrm>
        </p:spPr>
        <p:txBody>
          <a:bodyPr/>
          <a:lstStyle/>
          <a:p>
            <a:r>
              <a:rPr lang="en-US"/>
              <a:t>What happens after the first order?</a:t>
            </a:r>
            <a:endParaRPr lang="en-SG"/>
          </a:p>
        </p:txBody>
      </p:sp>
      <p:pic>
        <p:nvPicPr>
          <p:cNvPr id="6" name="Picture 5" descr="A graph with a line and a red line&#10;&#10;AI-generated content may be incorrect.">
            <a:extLst>
              <a:ext uri="{FF2B5EF4-FFF2-40B4-BE49-F238E27FC236}">
                <a16:creationId xmlns:a16="http://schemas.microsoft.com/office/drawing/2014/main" id="{A14293F5-9EDA-C51B-AA5C-5B41400764AA}"/>
              </a:ext>
            </a:extLst>
          </p:cNvPr>
          <p:cNvPicPr>
            <a:picLocks noChangeAspect="1"/>
          </p:cNvPicPr>
          <p:nvPr/>
        </p:nvPicPr>
        <p:blipFill>
          <a:blip r:embed="rId3"/>
          <a:stretch>
            <a:fillRect/>
          </a:stretch>
        </p:blipFill>
        <p:spPr>
          <a:xfrm>
            <a:off x="267891" y="1602755"/>
            <a:ext cx="6548440" cy="3396502"/>
          </a:xfrm>
          <a:prstGeom prst="rect">
            <a:avLst/>
          </a:prstGeom>
        </p:spPr>
      </p:pic>
      <p:pic>
        <p:nvPicPr>
          <p:cNvPr id="7" name="Picture 6">
            <a:extLst>
              <a:ext uri="{FF2B5EF4-FFF2-40B4-BE49-F238E27FC236}">
                <a16:creationId xmlns:a16="http://schemas.microsoft.com/office/drawing/2014/main" id="{2F0C78D0-C509-4943-FCCE-3266F8F4F7E6}"/>
              </a:ext>
            </a:extLst>
          </p:cNvPr>
          <p:cNvPicPr>
            <a:picLocks noChangeAspect="1"/>
          </p:cNvPicPr>
          <p:nvPr/>
        </p:nvPicPr>
        <p:blipFill>
          <a:blip r:embed="rId4"/>
          <a:stretch>
            <a:fillRect/>
          </a:stretch>
        </p:blipFill>
        <p:spPr>
          <a:xfrm>
            <a:off x="7139828" y="1604035"/>
            <a:ext cx="4869568" cy="3397912"/>
          </a:xfrm>
          <a:prstGeom prst="rect">
            <a:avLst/>
          </a:prstGeom>
        </p:spPr>
      </p:pic>
      <p:sp>
        <p:nvSpPr>
          <p:cNvPr id="9" name="TextBox 8">
            <a:extLst>
              <a:ext uri="{FF2B5EF4-FFF2-40B4-BE49-F238E27FC236}">
                <a16:creationId xmlns:a16="http://schemas.microsoft.com/office/drawing/2014/main" id="{D5B56306-7A56-63EB-965C-46F68A87EC82}"/>
              </a:ext>
            </a:extLst>
          </p:cNvPr>
          <p:cNvSpPr txBox="1"/>
          <p:nvPr/>
        </p:nvSpPr>
        <p:spPr>
          <a:xfrm>
            <a:off x="265716" y="1180248"/>
            <a:ext cx="6546832" cy="315010"/>
          </a:xfrm>
          <a:prstGeom prst="roundRect">
            <a:avLst>
              <a:gd name="adj" fmla="val 13355"/>
            </a:avLst>
          </a:prstGeom>
          <a:solidFill>
            <a:schemeClr val="accent1">
              <a:lumMod val="20000"/>
              <a:lumOff val="80000"/>
            </a:schemeClr>
          </a:solidFill>
        </p:spPr>
        <p:txBody>
          <a:bodyPr wrap="square" lIns="91440" tIns="45720" rIns="91440" bIns="45720" rtlCol="0" anchor="t">
            <a:spAutoFit/>
          </a:bodyPr>
          <a:lstStyle/>
          <a:p>
            <a:pPr algn="ctr"/>
            <a:r>
              <a:rPr lang="en-US" sz="1300" b="1">
                <a:cs typeface="Arial"/>
              </a:rPr>
              <a:t>Survival Curve – P(Ever Return) Declines each day</a:t>
            </a:r>
          </a:p>
        </p:txBody>
      </p:sp>
      <p:sp>
        <p:nvSpPr>
          <p:cNvPr id="10" name="TextBox 9">
            <a:extLst>
              <a:ext uri="{FF2B5EF4-FFF2-40B4-BE49-F238E27FC236}">
                <a16:creationId xmlns:a16="http://schemas.microsoft.com/office/drawing/2014/main" id="{7C2DF6CC-1377-E740-CEAA-DAF0A688D2D9}"/>
              </a:ext>
            </a:extLst>
          </p:cNvPr>
          <p:cNvSpPr txBox="1"/>
          <p:nvPr/>
        </p:nvSpPr>
        <p:spPr>
          <a:xfrm>
            <a:off x="7141575" y="1162387"/>
            <a:ext cx="4891864" cy="315010"/>
          </a:xfrm>
          <a:prstGeom prst="roundRect">
            <a:avLst>
              <a:gd name="adj" fmla="val 13355"/>
            </a:avLst>
          </a:prstGeom>
          <a:solidFill>
            <a:schemeClr val="accent1">
              <a:lumMod val="20000"/>
              <a:lumOff val="80000"/>
            </a:schemeClr>
          </a:solidFill>
        </p:spPr>
        <p:txBody>
          <a:bodyPr wrap="square" lIns="91440" tIns="45720" rIns="91440" bIns="45720" rtlCol="0" anchor="t">
            <a:spAutoFit/>
          </a:bodyPr>
          <a:lstStyle/>
          <a:p>
            <a:pPr algn="ctr"/>
            <a:r>
              <a:rPr lang="en-US" sz="1300" b="1">
                <a:cs typeface="Arial"/>
              </a:rPr>
              <a:t>Value Unlocked per Purchase Stage</a:t>
            </a:r>
          </a:p>
        </p:txBody>
      </p:sp>
      <p:sp>
        <p:nvSpPr>
          <p:cNvPr id="11" name="TextBox 10">
            <a:extLst>
              <a:ext uri="{FF2B5EF4-FFF2-40B4-BE49-F238E27FC236}">
                <a16:creationId xmlns:a16="http://schemas.microsoft.com/office/drawing/2014/main" id="{EF40D585-13AD-07B5-344C-0B8250728A20}"/>
              </a:ext>
            </a:extLst>
          </p:cNvPr>
          <p:cNvSpPr txBox="1"/>
          <p:nvPr/>
        </p:nvSpPr>
        <p:spPr>
          <a:xfrm>
            <a:off x="170466" y="5133122"/>
            <a:ext cx="3189271" cy="762655"/>
          </a:xfrm>
          <a:prstGeom prst="roundRect">
            <a:avLst>
              <a:gd name="adj" fmla="val 13355"/>
            </a:avLst>
          </a:prstGeom>
          <a:solidFill>
            <a:schemeClr val="accent1">
              <a:lumMod val="40000"/>
              <a:lumOff val="60000"/>
            </a:schemeClr>
          </a:solidFill>
        </p:spPr>
        <p:txBody>
          <a:bodyPr wrap="square" lIns="91440" tIns="45720" rIns="91440" bIns="45720" rtlCol="0" anchor="ctr">
            <a:spAutoFit/>
          </a:bodyPr>
          <a:lstStyle/>
          <a:p>
            <a:pPr algn="ctr"/>
            <a:r>
              <a:rPr lang="en-US" b="1">
                <a:solidFill>
                  <a:srgbClr val="BC7308"/>
                </a:solidFill>
                <a:cs typeface="Arial"/>
              </a:rPr>
              <a:t>19.2%</a:t>
            </a:r>
            <a:r>
              <a:rPr lang="en-US" sz="4000" b="1">
                <a:cs typeface="Arial"/>
              </a:rPr>
              <a:t> </a:t>
            </a:r>
            <a:r>
              <a:rPr lang="en-US" sz="1200">
                <a:cs typeface="Arial"/>
              </a:rPr>
              <a:t>chance of return left by Day </a:t>
            </a:r>
            <a:r>
              <a:rPr lang="en-US" sz="1200" b="1">
                <a:cs typeface="Arial"/>
              </a:rPr>
              <a:t>60</a:t>
            </a:r>
          </a:p>
        </p:txBody>
      </p:sp>
      <p:sp>
        <p:nvSpPr>
          <p:cNvPr id="14" name="TextBox 13">
            <a:extLst>
              <a:ext uri="{FF2B5EF4-FFF2-40B4-BE49-F238E27FC236}">
                <a16:creationId xmlns:a16="http://schemas.microsoft.com/office/drawing/2014/main" id="{D9E7BA2C-4DA7-5364-6F8B-9F5BC56DD1F0}"/>
              </a:ext>
            </a:extLst>
          </p:cNvPr>
          <p:cNvSpPr txBox="1"/>
          <p:nvPr/>
        </p:nvSpPr>
        <p:spPr>
          <a:xfrm>
            <a:off x="3533982" y="5133121"/>
            <a:ext cx="3480974" cy="762655"/>
          </a:xfrm>
          <a:prstGeom prst="roundRect">
            <a:avLst>
              <a:gd name="adj" fmla="val 13355"/>
            </a:avLst>
          </a:prstGeom>
          <a:solidFill>
            <a:schemeClr val="accent1">
              <a:lumMod val="40000"/>
              <a:lumOff val="60000"/>
            </a:schemeClr>
          </a:solidFill>
        </p:spPr>
        <p:txBody>
          <a:bodyPr wrap="square" lIns="91440" tIns="45720" rIns="91440" bIns="45720" rtlCol="0" anchor="ctr">
            <a:spAutoFit/>
          </a:bodyPr>
          <a:lstStyle/>
          <a:p>
            <a:pPr algn="ctr"/>
            <a:r>
              <a:rPr lang="en-US" b="1">
                <a:solidFill>
                  <a:srgbClr val="FF0000"/>
                </a:solidFill>
                <a:cs typeface="Arial"/>
              </a:rPr>
              <a:t>11.4%</a:t>
            </a:r>
            <a:r>
              <a:rPr lang="en-US" sz="4000" b="1">
                <a:cs typeface="Arial"/>
              </a:rPr>
              <a:t> </a:t>
            </a:r>
            <a:r>
              <a:rPr lang="en-US" sz="1200">
                <a:cs typeface="Arial"/>
              </a:rPr>
              <a:t>chance of return left by Day </a:t>
            </a:r>
            <a:r>
              <a:rPr lang="en-US" sz="1200" b="1">
                <a:cs typeface="Arial"/>
              </a:rPr>
              <a:t>180</a:t>
            </a:r>
          </a:p>
        </p:txBody>
      </p:sp>
      <p:sp>
        <p:nvSpPr>
          <p:cNvPr id="15" name="TextBox 14">
            <a:extLst>
              <a:ext uri="{FF2B5EF4-FFF2-40B4-BE49-F238E27FC236}">
                <a16:creationId xmlns:a16="http://schemas.microsoft.com/office/drawing/2014/main" id="{5595615A-F034-C585-F6E9-C0B559324DE0}"/>
              </a:ext>
            </a:extLst>
          </p:cNvPr>
          <p:cNvSpPr txBox="1"/>
          <p:nvPr/>
        </p:nvSpPr>
        <p:spPr>
          <a:xfrm>
            <a:off x="7594013" y="5133121"/>
            <a:ext cx="3969130" cy="762655"/>
          </a:xfrm>
          <a:prstGeom prst="roundRect">
            <a:avLst>
              <a:gd name="adj" fmla="val 13355"/>
            </a:avLst>
          </a:prstGeom>
          <a:solidFill>
            <a:schemeClr val="accent1">
              <a:lumMod val="40000"/>
              <a:lumOff val="60000"/>
            </a:schemeClr>
          </a:solidFill>
        </p:spPr>
        <p:txBody>
          <a:bodyPr wrap="square" lIns="91440" tIns="45720" rIns="91440" bIns="45720" rtlCol="0" anchor="ctr">
            <a:spAutoFit/>
          </a:bodyPr>
          <a:lstStyle/>
          <a:p>
            <a:pPr algn="ctr"/>
            <a:r>
              <a:rPr lang="en-US" b="1">
                <a:solidFill>
                  <a:schemeClr val="accent1">
                    <a:lumMod val="49000"/>
                  </a:schemeClr>
                </a:solidFill>
                <a:cs typeface="Arial"/>
              </a:rPr>
              <a:t>+61%</a:t>
            </a:r>
            <a:r>
              <a:rPr lang="en-US" sz="4000" b="1">
                <a:cs typeface="Arial"/>
              </a:rPr>
              <a:t> </a:t>
            </a:r>
            <a:r>
              <a:rPr lang="en-US" sz="1200">
                <a:cs typeface="Arial"/>
              </a:rPr>
              <a:t>LTV unlocked by 2nd purchase</a:t>
            </a:r>
            <a:endParaRPr lang="en-US" sz="1200" b="1">
              <a:cs typeface="Arial"/>
            </a:endParaRPr>
          </a:p>
        </p:txBody>
      </p:sp>
      <p:sp>
        <p:nvSpPr>
          <p:cNvPr id="17" name="TextBox 16">
            <a:extLst>
              <a:ext uri="{FF2B5EF4-FFF2-40B4-BE49-F238E27FC236}">
                <a16:creationId xmlns:a16="http://schemas.microsoft.com/office/drawing/2014/main" id="{0B7B17E6-9EF4-ACEE-2D2A-58BEC07821BF}"/>
              </a:ext>
            </a:extLst>
          </p:cNvPr>
          <p:cNvSpPr txBox="1"/>
          <p:nvPr/>
        </p:nvSpPr>
        <p:spPr>
          <a:xfrm>
            <a:off x="259763" y="6061811"/>
            <a:ext cx="11303379" cy="530543"/>
          </a:xfrm>
          <a:prstGeom prst="roundRect">
            <a:avLst>
              <a:gd name="adj" fmla="val 13355"/>
            </a:avLst>
          </a:prstGeom>
          <a:solidFill>
            <a:schemeClr val="tx1"/>
          </a:solidFill>
        </p:spPr>
        <p:txBody>
          <a:bodyPr wrap="square" lIns="91440" tIns="45720" rIns="91440" bIns="45720" rtlCol="0" anchor="t">
            <a:spAutoFit/>
          </a:bodyPr>
          <a:lstStyle/>
          <a:p>
            <a:pPr marL="285750" indent="-285750">
              <a:buClr>
                <a:schemeClr val="bg1"/>
              </a:buClr>
              <a:buFont typeface="Arial" panose="05000000000000000000" pitchFamily="2" charset="2"/>
              <a:buChar char="•"/>
            </a:pPr>
            <a:r>
              <a:rPr lang="en-US" sz="1300">
                <a:solidFill>
                  <a:schemeClr val="bg1"/>
                </a:solidFill>
                <a:ea typeface="+mn-lt"/>
                <a:cs typeface="+mn-lt"/>
              </a:rPr>
              <a:t>Every day without a 2nd purchase is a </a:t>
            </a:r>
            <a:r>
              <a:rPr lang="en-US" sz="1300" b="1">
                <a:solidFill>
                  <a:srgbClr val="FF0000"/>
                </a:solidFill>
                <a:ea typeface="+mn-lt"/>
                <a:cs typeface="+mn-lt"/>
              </a:rPr>
              <a:t>permanent loss</a:t>
            </a:r>
            <a:r>
              <a:rPr lang="en-US" sz="1300">
                <a:solidFill>
                  <a:schemeClr val="bg1"/>
                </a:solidFill>
                <a:ea typeface="+mn-lt"/>
                <a:cs typeface="+mn-lt"/>
              </a:rPr>
              <a:t>. By Day 60, the window is already half-closed - but triggering that return unlocks </a:t>
            </a:r>
            <a:r>
              <a:rPr lang="en-US" sz="1300" b="1">
                <a:solidFill>
                  <a:srgbClr val="10B981"/>
                </a:solidFill>
                <a:ea typeface="+mn-lt"/>
                <a:cs typeface="+mn-lt"/>
              </a:rPr>
              <a:t>61% more lifetime value.</a:t>
            </a:r>
            <a:endParaRPr lang="en-US" b="1">
              <a:solidFill>
                <a:srgbClr val="10B981"/>
              </a:solidFill>
              <a:ea typeface="+mn-lt"/>
              <a:cs typeface="+mn-lt"/>
            </a:endParaRPr>
          </a:p>
        </p:txBody>
      </p:sp>
    </p:spTree>
    <p:extLst>
      <p:ext uri="{BB962C8B-B14F-4D97-AF65-F5344CB8AC3E}">
        <p14:creationId xmlns:p14="http://schemas.microsoft.com/office/powerpoint/2010/main" val="35329470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24C4C48E-84DE-462D-40B4-397091570464}"/>
              </a:ext>
            </a:extLst>
          </p:cNvPr>
          <p:cNvSpPr>
            <a:spLocks noGrp="1"/>
          </p:cNvSpPr>
          <p:nvPr>
            <p:ph type="title"/>
          </p:nvPr>
        </p:nvSpPr>
        <p:spPr>
          <a:xfrm>
            <a:off x="838200" y="365125"/>
            <a:ext cx="10515600" cy="1325563"/>
          </a:xfrm>
        </p:spPr>
        <p:txBody>
          <a:bodyPr/>
          <a:lstStyle/>
          <a:p>
            <a:r>
              <a:rPr lang="en-US"/>
              <a:t>The retention opportunity</a:t>
            </a:r>
          </a:p>
        </p:txBody>
      </p:sp>
      <p:grpSp>
        <p:nvGrpSpPr>
          <p:cNvPr id="23" name="Group 22">
            <a:extLst>
              <a:ext uri="{FF2B5EF4-FFF2-40B4-BE49-F238E27FC236}">
                <a16:creationId xmlns:a16="http://schemas.microsoft.com/office/drawing/2014/main" id="{24EC4272-C7B6-269B-562C-2F8F324DC068}"/>
              </a:ext>
            </a:extLst>
          </p:cNvPr>
          <p:cNvGrpSpPr/>
          <p:nvPr/>
        </p:nvGrpSpPr>
        <p:grpSpPr>
          <a:xfrm>
            <a:off x="417749" y="2235264"/>
            <a:ext cx="3254477" cy="1785578"/>
            <a:chOff x="5710575" y="1451241"/>
            <a:chExt cx="2678307" cy="1959191"/>
          </a:xfrm>
        </p:grpSpPr>
        <p:sp>
          <p:nvSpPr>
            <p:cNvPr id="19" name="Rectangle: Rounded Corners 18">
              <a:extLst>
                <a:ext uri="{FF2B5EF4-FFF2-40B4-BE49-F238E27FC236}">
                  <a16:creationId xmlns:a16="http://schemas.microsoft.com/office/drawing/2014/main" id="{DBC13D15-4330-485D-95BB-87B2878CA3A4}"/>
                </a:ext>
              </a:extLst>
            </p:cNvPr>
            <p:cNvSpPr/>
            <p:nvPr/>
          </p:nvSpPr>
          <p:spPr>
            <a:xfrm>
              <a:off x="5710575" y="1451241"/>
              <a:ext cx="2678307" cy="1959191"/>
            </a:xfrm>
            <a:prstGeom prst="roundRect">
              <a:avLst/>
            </a:prstGeom>
            <a:solidFill>
              <a:schemeClr val="bg1">
                <a:lumMod val="95000"/>
              </a:schemeClr>
            </a:solidFill>
            <a:ln>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0" name="TextBox 19">
              <a:extLst>
                <a:ext uri="{FF2B5EF4-FFF2-40B4-BE49-F238E27FC236}">
                  <a16:creationId xmlns:a16="http://schemas.microsoft.com/office/drawing/2014/main" id="{34FA0839-0622-B469-EE06-39216FBE12D6}"/>
                </a:ext>
              </a:extLst>
            </p:cNvPr>
            <p:cNvSpPr txBox="1"/>
            <p:nvPr/>
          </p:nvSpPr>
          <p:spPr>
            <a:xfrm>
              <a:off x="6044491" y="1577980"/>
              <a:ext cx="2168726" cy="405242"/>
            </a:xfrm>
            <a:prstGeom prst="rect">
              <a:avLst/>
            </a:prstGeom>
            <a:noFill/>
          </p:spPr>
          <p:txBody>
            <a:bodyPr wrap="square" lIns="91440" tIns="45720" rIns="91440" bIns="45720" rtlCol="0" anchor="t">
              <a:spAutoFit/>
            </a:bodyPr>
            <a:lstStyle/>
            <a:p>
              <a:pPr algn="ctr"/>
              <a:r>
                <a:rPr lang="en-US" b="1"/>
                <a:t>At-risk Pool</a:t>
              </a:r>
              <a:endParaRPr lang="en-US">
                <a:cs typeface="Arial"/>
              </a:endParaRPr>
            </a:p>
          </p:txBody>
        </p:sp>
        <p:sp>
          <p:nvSpPr>
            <p:cNvPr id="21" name="TextBox 20">
              <a:extLst>
                <a:ext uri="{FF2B5EF4-FFF2-40B4-BE49-F238E27FC236}">
                  <a16:creationId xmlns:a16="http://schemas.microsoft.com/office/drawing/2014/main" id="{2AD02919-8472-DCB4-67DA-D544800192A9}"/>
                </a:ext>
              </a:extLst>
            </p:cNvPr>
            <p:cNvSpPr txBox="1"/>
            <p:nvPr/>
          </p:nvSpPr>
          <p:spPr>
            <a:xfrm>
              <a:off x="6219446" y="2029125"/>
              <a:ext cx="1664211" cy="776714"/>
            </a:xfrm>
            <a:prstGeom prst="rect">
              <a:avLst/>
            </a:prstGeom>
            <a:noFill/>
          </p:spPr>
          <p:txBody>
            <a:bodyPr wrap="square" lIns="91440" tIns="45720" rIns="91440" bIns="45720" rtlCol="0" anchor="t">
              <a:spAutoFit/>
            </a:bodyPr>
            <a:lstStyle/>
            <a:p>
              <a:r>
                <a:rPr lang="en-US" sz="4000" b="1">
                  <a:solidFill>
                    <a:schemeClr val="accent1"/>
                  </a:solidFill>
                </a:rPr>
                <a:t>~ 4,100</a:t>
              </a:r>
              <a:endParaRPr lang="en-US" sz="4000">
                <a:solidFill>
                  <a:schemeClr val="accent1"/>
                </a:solidFill>
                <a:cs typeface="Arial"/>
              </a:endParaRPr>
            </a:p>
          </p:txBody>
        </p:sp>
        <p:cxnSp>
          <p:nvCxnSpPr>
            <p:cNvPr id="22" name="Straight Connector 21">
              <a:extLst>
                <a:ext uri="{FF2B5EF4-FFF2-40B4-BE49-F238E27FC236}">
                  <a16:creationId xmlns:a16="http://schemas.microsoft.com/office/drawing/2014/main" id="{4932091F-660E-EA9B-9B90-C40F37E5E216}"/>
                </a:ext>
              </a:extLst>
            </p:cNvPr>
            <p:cNvCxnSpPr>
              <a:cxnSpLocks/>
            </p:cNvCxnSpPr>
            <p:nvPr/>
          </p:nvCxnSpPr>
          <p:spPr>
            <a:xfrm>
              <a:off x="6151136" y="1973702"/>
              <a:ext cx="1903990" cy="0"/>
            </a:xfrm>
            <a:prstGeom prst="line">
              <a:avLst/>
            </a:prstGeom>
            <a:ln w="9525">
              <a:solidFill>
                <a:schemeClr val="accent2"/>
              </a:solidFill>
            </a:ln>
          </p:spPr>
          <p:style>
            <a:lnRef idx="2">
              <a:schemeClr val="accent1"/>
            </a:lnRef>
            <a:fillRef idx="0">
              <a:schemeClr val="accent1"/>
            </a:fillRef>
            <a:effectRef idx="1">
              <a:schemeClr val="accent1"/>
            </a:effectRef>
            <a:fontRef idx="minor">
              <a:schemeClr val="tx1"/>
            </a:fontRef>
          </p:style>
        </p:cxnSp>
      </p:grpSp>
      <p:grpSp>
        <p:nvGrpSpPr>
          <p:cNvPr id="24" name="Group 23">
            <a:extLst>
              <a:ext uri="{FF2B5EF4-FFF2-40B4-BE49-F238E27FC236}">
                <a16:creationId xmlns:a16="http://schemas.microsoft.com/office/drawing/2014/main" id="{940AC044-4729-77EE-316C-1DD9F70767C3}"/>
              </a:ext>
            </a:extLst>
          </p:cNvPr>
          <p:cNvGrpSpPr/>
          <p:nvPr/>
        </p:nvGrpSpPr>
        <p:grpSpPr>
          <a:xfrm>
            <a:off x="4489685" y="2235264"/>
            <a:ext cx="3372797" cy="1785578"/>
            <a:chOff x="5710575" y="1451241"/>
            <a:chExt cx="2775680" cy="1959191"/>
          </a:xfrm>
        </p:grpSpPr>
        <p:sp>
          <p:nvSpPr>
            <p:cNvPr id="25" name="Rectangle: Rounded Corners 24">
              <a:extLst>
                <a:ext uri="{FF2B5EF4-FFF2-40B4-BE49-F238E27FC236}">
                  <a16:creationId xmlns:a16="http://schemas.microsoft.com/office/drawing/2014/main" id="{219A5007-7DB0-4F2D-2519-FCFCD726E2EA}"/>
                </a:ext>
              </a:extLst>
            </p:cNvPr>
            <p:cNvSpPr/>
            <p:nvPr/>
          </p:nvSpPr>
          <p:spPr>
            <a:xfrm>
              <a:off x="5710575" y="1451241"/>
              <a:ext cx="2678307" cy="1959191"/>
            </a:xfrm>
            <a:prstGeom prst="roundRect">
              <a:avLst/>
            </a:prstGeom>
            <a:solidFill>
              <a:schemeClr val="bg1">
                <a:lumMod val="95000"/>
              </a:schemeClr>
            </a:solidFill>
            <a:ln>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6" name="TextBox 25">
              <a:extLst>
                <a:ext uri="{FF2B5EF4-FFF2-40B4-BE49-F238E27FC236}">
                  <a16:creationId xmlns:a16="http://schemas.microsoft.com/office/drawing/2014/main" id="{CE18C445-C8B1-295A-A787-D27533A0B556}"/>
                </a:ext>
              </a:extLst>
            </p:cNvPr>
            <p:cNvSpPr txBox="1"/>
            <p:nvPr/>
          </p:nvSpPr>
          <p:spPr>
            <a:xfrm>
              <a:off x="6044491" y="1577980"/>
              <a:ext cx="2168726" cy="405242"/>
            </a:xfrm>
            <a:prstGeom prst="rect">
              <a:avLst/>
            </a:prstGeom>
            <a:noFill/>
          </p:spPr>
          <p:txBody>
            <a:bodyPr wrap="square" lIns="91440" tIns="45720" rIns="91440" bIns="45720" rtlCol="0" anchor="t">
              <a:spAutoFit/>
            </a:bodyPr>
            <a:lstStyle/>
            <a:p>
              <a:pPr algn="ctr"/>
              <a:r>
                <a:rPr lang="en-US" b="1"/>
                <a:t>Target</a:t>
              </a:r>
              <a:endParaRPr lang="en-US">
                <a:cs typeface="Arial"/>
              </a:endParaRPr>
            </a:p>
          </p:txBody>
        </p:sp>
        <p:sp>
          <p:nvSpPr>
            <p:cNvPr id="27" name="TextBox 26">
              <a:extLst>
                <a:ext uri="{FF2B5EF4-FFF2-40B4-BE49-F238E27FC236}">
                  <a16:creationId xmlns:a16="http://schemas.microsoft.com/office/drawing/2014/main" id="{43A76532-859E-FE55-3088-1E08882BF792}"/>
                </a:ext>
              </a:extLst>
            </p:cNvPr>
            <p:cNvSpPr txBox="1"/>
            <p:nvPr/>
          </p:nvSpPr>
          <p:spPr>
            <a:xfrm>
              <a:off x="5807914" y="2036005"/>
              <a:ext cx="2678341" cy="776714"/>
            </a:xfrm>
            <a:prstGeom prst="rect">
              <a:avLst/>
            </a:prstGeom>
            <a:noFill/>
          </p:spPr>
          <p:txBody>
            <a:bodyPr wrap="square" lIns="91440" tIns="45720" rIns="91440" bIns="45720" rtlCol="0" anchor="t">
              <a:spAutoFit/>
            </a:bodyPr>
            <a:lstStyle/>
            <a:p>
              <a:r>
                <a:rPr lang="en-US" sz="4000" b="1">
                  <a:solidFill>
                    <a:schemeClr val="accent1"/>
                  </a:solidFill>
                </a:rPr>
                <a:t>15% hit rate</a:t>
              </a:r>
              <a:endParaRPr lang="en-US" sz="4000" b="1">
                <a:solidFill>
                  <a:schemeClr val="accent1"/>
                </a:solidFill>
                <a:cs typeface="Arial"/>
              </a:endParaRPr>
            </a:p>
          </p:txBody>
        </p:sp>
        <p:cxnSp>
          <p:nvCxnSpPr>
            <p:cNvPr id="28" name="Straight Connector 27">
              <a:extLst>
                <a:ext uri="{FF2B5EF4-FFF2-40B4-BE49-F238E27FC236}">
                  <a16:creationId xmlns:a16="http://schemas.microsoft.com/office/drawing/2014/main" id="{A675BAE9-F7D4-AC1F-9706-2BA004A44097}"/>
                </a:ext>
              </a:extLst>
            </p:cNvPr>
            <p:cNvCxnSpPr>
              <a:cxnSpLocks/>
            </p:cNvCxnSpPr>
            <p:nvPr/>
          </p:nvCxnSpPr>
          <p:spPr>
            <a:xfrm>
              <a:off x="6151136" y="1973702"/>
              <a:ext cx="1903990" cy="0"/>
            </a:xfrm>
            <a:prstGeom prst="line">
              <a:avLst/>
            </a:prstGeom>
            <a:ln w="9525">
              <a:solidFill>
                <a:schemeClr val="accent2"/>
              </a:solidFill>
            </a:ln>
          </p:spPr>
          <p:style>
            <a:lnRef idx="2">
              <a:schemeClr val="accent1"/>
            </a:lnRef>
            <a:fillRef idx="0">
              <a:schemeClr val="accent1"/>
            </a:fillRef>
            <a:effectRef idx="1">
              <a:schemeClr val="accent1"/>
            </a:effectRef>
            <a:fontRef idx="minor">
              <a:schemeClr val="tx1"/>
            </a:fontRef>
          </p:style>
        </p:cxnSp>
      </p:grpSp>
      <p:sp>
        <p:nvSpPr>
          <p:cNvPr id="29" name="TextBox 28">
            <a:extLst>
              <a:ext uri="{FF2B5EF4-FFF2-40B4-BE49-F238E27FC236}">
                <a16:creationId xmlns:a16="http://schemas.microsoft.com/office/drawing/2014/main" id="{B931CC5B-1ED3-7A11-A631-7E45225CDC2B}"/>
              </a:ext>
            </a:extLst>
          </p:cNvPr>
          <p:cNvSpPr txBox="1"/>
          <p:nvPr/>
        </p:nvSpPr>
        <p:spPr>
          <a:xfrm>
            <a:off x="716602" y="3422500"/>
            <a:ext cx="2652458"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1200" b="1">
                <a:latin typeface="Aptps"/>
                <a:cs typeface="Arial"/>
              </a:rPr>
              <a:t>2024 – 2025 first timers who did not make 2nd order</a:t>
            </a:r>
            <a:endParaRPr lang="en-US" b="1">
              <a:latin typeface="Aptps"/>
            </a:endParaRPr>
          </a:p>
        </p:txBody>
      </p:sp>
      <p:sp>
        <p:nvSpPr>
          <p:cNvPr id="30" name="TextBox 29">
            <a:extLst>
              <a:ext uri="{FF2B5EF4-FFF2-40B4-BE49-F238E27FC236}">
                <a16:creationId xmlns:a16="http://schemas.microsoft.com/office/drawing/2014/main" id="{DF7EADEB-5D24-50C6-3FE7-B152DB02E7BD}"/>
              </a:ext>
            </a:extLst>
          </p:cNvPr>
          <p:cNvSpPr txBox="1"/>
          <p:nvPr/>
        </p:nvSpPr>
        <p:spPr>
          <a:xfrm>
            <a:off x="4907602" y="3422499"/>
            <a:ext cx="2652458"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1200" b="1">
                <a:latin typeface="Aptos"/>
                <a:cs typeface="Arial"/>
              </a:rPr>
              <a:t>Target to hit 15% of customers to come back</a:t>
            </a:r>
          </a:p>
        </p:txBody>
      </p:sp>
      <p:grpSp>
        <p:nvGrpSpPr>
          <p:cNvPr id="31" name="Group 30">
            <a:extLst>
              <a:ext uri="{FF2B5EF4-FFF2-40B4-BE49-F238E27FC236}">
                <a16:creationId xmlns:a16="http://schemas.microsoft.com/office/drawing/2014/main" id="{B422B08A-EDF0-E2F9-5482-6AD16CC64C45}"/>
              </a:ext>
            </a:extLst>
          </p:cNvPr>
          <p:cNvGrpSpPr/>
          <p:nvPr/>
        </p:nvGrpSpPr>
        <p:grpSpPr>
          <a:xfrm>
            <a:off x="8484233" y="2253121"/>
            <a:ext cx="3254477" cy="1785578"/>
            <a:chOff x="5710575" y="1451241"/>
            <a:chExt cx="2678307" cy="1959191"/>
          </a:xfrm>
        </p:grpSpPr>
        <p:sp>
          <p:nvSpPr>
            <p:cNvPr id="32" name="Rectangle: Rounded Corners 31">
              <a:extLst>
                <a:ext uri="{FF2B5EF4-FFF2-40B4-BE49-F238E27FC236}">
                  <a16:creationId xmlns:a16="http://schemas.microsoft.com/office/drawing/2014/main" id="{4EDDC627-B06A-E376-0E2D-046644B243CB}"/>
                </a:ext>
              </a:extLst>
            </p:cNvPr>
            <p:cNvSpPr/>
            <p:nvPr/>
          </p:nvSpPr>
          <p:spPr>
            <a:xfrm>
              <a:off x="5710575" y="1451241"/>
              <a:ext cx="2678307" cy="1959191"/>
            </a:xfrm>
            <a:prstGeom prst="roundRect">
              <a:avLst/>
            </a:prstGeom>
            <a:solidFill>
              <a:schemeClr val="bg1">
                <a:lumMod val="95000"/>
              </a:schemeClr>
            </a:solidFill>
            <a:ln>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3" name="TextBox 32">
              <a:extLst>
                <a:ext uri="{FF2B5EF4-FFF2-40B4-BE49-F238E27FC236}">
                  <a16:creationId xmlns:a16="http://schemas.microsoft.com/office/drawing/2014/main" id="{17A85576-1559-1A88-EA02-A6E30CAE4D76}"/>
                </a:ext>
              </a:extLst>
            </p:cNvPr>
            <p:cNvSpPr txBox="1"/>
            <p:nvPr/>
          </p:nvSpPr>
          <p:spPr>
            <a:xfrm>
              <a:off x="5902414" y="1577980"/>
              <a:ext cx="2394088" cy="405242"/>
            </a:xfrm>
            <a:prstGeom prst="rect">
              <a:avLst/>
            </a:prstGeom>
            <a:noFill/>
          </p:spPr>
          <p:txBody>
            <a:bodyPr wrap="square" lIns="91440" tIns="45720" rIns="91440" bIns="45720" rtlCol="0" anchor="t">
              <a:spAutoFit/>
            </a:bodyPr>
            <a:lstStyle/>
            <a:p>
              <a:r>
                <a:rPr lang="en-US" b="1"/>
                <a:t>Revenue per Customer</a:t>
              </a:r>
              <a:endParaRPr lang="en-US"/>
            </a:p>
          </p:txBody>
        </p:sp>
        <p:sp>
          <p:nvSpPr>
            <p:cNvPr id="34" name="TextBox 33">
              <a:extLst>
                <a:ext uri="{FF2B5EF4-FFF2-40B4-BE49-F238E27FC236}">
                  <a16:creationId xmlns:a16="http://schemas.microsoft.com/office/drawing/2014/main" id="{14F2EE24-5BD5-ED14-FC61-AC8FB21FEA73}"/>
                </a:ext>
              </a:extLst>
            </p:cNvPr>
            <p:cNvSpPr txBox="1"/>
            <p:nvPr/>
          </p:nvSpPr>
          <p:spPr>
            <a:xfrm>
              <a:off x="6371320" y="2029124"/>
              <a:ext cx="1360460" cy="776714"/>
            </a:xfrm>
            <a:prstGeom prst="rect">
              <a:avLst/>
            </a:prstGeom>
            <a:noFill/>
          </p:spPr>
          <p:txBody>
            <a:bodyPr wrap="square" lIns="91440" tIns="45720" rIns="91440" bIns="45720" rtlCol="0" anchor="t">
              <a:spAutoFit/>
            </a:bodyPr>
            <a:lstStyle/>
            <a:p>
              <a:r>
                <a:rPr lang="en-US" sz="4000" b="1">
                  <a:solidFill>
                    <a:schemeClr val="accent1"/>
                  </a:solidFill>
                </a:rPr>
                <a:t>S$356</a:t>
              </a:r>
              <a:endParaRPr lang="en-US" sz="4000" b="1">
                <a:solidFill>
                  <a:schemeClr val="accent1"/>
                </a:solidFill>
                <a:cs typeface="Arial"/>
              </a:endParaRPr>
            </a:p>
          </p:txBody>
        </p:sp>
        <p:cxnSp>
          <p:nvCxnSpPr>
            <p:cNvPr id="35" name="Straight Connector 34">
              <a:extLst>
                <a:ext uri="{FF2B5EF4-FFF2-40B4-BE49-F238E27FC236}">
                  <a16:creationId xmlns:a16="http://schemas.microsoft.com/office/drawing/2014/main" id="{326DD00B-87EB-BEA9-1763-547A8D7750BC}"/>
                </a:ext>
              </a:extLst>
            </p:cNvPr>
            <p:cNvCxnSpPr>
              <a:cxnSpLocks/>
            </p:cNvCxnSpPr>
            <p:nvPr/>
          </p:nvCxnSpPr>
          <p:spPr>
            <a:xfrm>
              <a:off x="6151136" y="1973702"/>
              <a:ext cx="1903990" cy="0"/>
            </a:xfrm>
            <a:prstGeom prst="line">
              <a:avLst/>
            </a:prstGeom>
            <a:ln w="9525">
              <a:solidFill>
                <a:schemeClr val="accent2"/>
              </a:solidFill>
            </a:ln>
          </p:spPr>
          <p:style>
            <a:lnRef idx="2">
              <a:schemeClr val="accent1"/>
            </a:lnRef>
            <a:fillRef idx="0">
              <a:schemeClr val="accent1"/>
            </a:fillRef>
            <a:effectRef idx="1">
              <a:schemeClr val="accent1"/>
            </a:effectRef>
            <a:fontRef idx="minor">
              <a:schemeClr val="tx1"/>
            </a:fontRef>
          </p:style>
        </p:cxnSp>
      </p:grpSp>
      <p:sp>
        <p:nvSpPr>
          <p:cNvPr id="36" name="TextBox 35">
            <a:extLst>
              <a:ext uri="{FF2B5EF4-FFF2-40B4-BE49-F238E27FC236}">
                <a16:creationId xmlns:a16="http://schemas.microsoft.com/office/drawing/2014/main" id="{A3820773-1A51-B072-DBBA-E8CBCEF1922B}"/>
              </a:ext>
            </a:extLst>
          </p:cNvPr>
          <p:cNvSpPr txBox="1"/>
          <p:nvPr/>
        </p:nvSpPr>
        <p:spPr>
          <a:xfrm>
            <a:off x="8669977" y="3434404"/>
            <a:ext cx="3069176"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1200" b="1">
                <a:latin typeface="Aptos"/>
                <a:cs typeface="Arial"/>
              </a:rPr>
              <a:t>Each customer who comes back is worth S$356 is LTV – Chain of future orders</a:t>
            </a:r>
          </a:p>
        </p:txBody>
      </p:sp>
      <p:sp>
        <p:nvSpPr>
          <p:cNvPr id="38" name="TextBox 37">
            <a:extLst>
              <a:ext uri="{FF2B5EF4-FFF2-40B4-BE49-F238E27FC236}">
                <a16:creationId xmlns:a16="http://schemas.microsoft.com/office/drawing/2014/main" id="{C9404226-0B87-0B8E-9282-ABECBD793EEC}"/>
              </a:ext>
            </a:extLst>
          </p:cNvPr>
          <p:cNvSpPr txBox="1"/>
          <p:nvPr/>
        </p:nvSpPr>
        <p:spPr>
          <a:xfrm>
            <a:off x="855076" y="4916565"/>
            <a:ext cx="10487801" cy="1027926"/>
          </a:xfrm>
          <a:prstGeom prst="roundRect">
            <a:avLst>
              <a:gd name="adj" fmla="val 13355"/>
            </a:avLst>
          </a:prstGeom>
          <a:solidFill>
            <a:schemeClr val="tx1"/>
          </a:solidFill>
        </p:spPr>
        <p:txBody>
          <a:bodyPr wrap="square" lIns="91440" tIns="45720" rIns="91440" bIns="45720" rtlCol="0" anchor="ctr">
            <a:spAutoFit/>
          </a:bodyPr>
          <a:lstStyle/>
          <a:p>
            <a:pPr algn="ctr">
              <a:buClr>
                <a:schemeClr val="bg1"/>
              </a:buClr>
            </a:pPr>
            <a:r>
              <a:rPr lang="en-US" sz="4000" b="1">
                <a:solidFill>
                  <a:schemeClr val="bg1"/>
                </a:solidFill>
                <a:ea typeface="+mn-lt"/>
                <a:cs typeface="+mn-lt"/>
              </a:rPr>
              <a:t>Potential Business Value: </a:t>
            </a:r>
            <a:r>
              <a:rPr lang="en-US" sz="4000" b="1">
                <a:solidFill>
                  <a:srgbClr val="10B981"/>
                </a:solidFill>
                <a:ea typeface="+mn-lt"/>
                <a:cs typeface="+mn-lt"/>
              </a:rPr>
              <a:t>S$ 219,000</a:t>
            </a:r>
          </a:p>
          <a:p>
            <a:pPr algn="ctr"/>
            <a:r>
              <a:rPr lang="en-US" sz="1600" b="1">
                <a:solidFill>
                  <a:schemeClr val="bg1"/>
                </a:solidFill>
                <a:ea typeface="+mn-lt"/>
                <a:cs typeface="+mn-lt"/>
              </a:rPr>
              <a:t>By converting 15% of ~4,100 at-risk first-timers through a post-purchase program</a:t>
            </a:r>
          </a:p>
        </p:txBody>
      </p:sp>
    </p:spTree>
    <p:extLst>
      <p:ext uri="{BB962C8B-B14F-4D97-AF65-F5344CB8AC3E}">
        <p14:creationId xmlns:p14="http://schemas.microsoft.com/office/powerpoint/2010/main" val="38988084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E7AFCF-87EC-6D38-D69B-601F565D01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C31992-9ACB-3B16-5CCD-E0FC5333ED08}"/>
              </a:ext>
            </a:extLst>
          </p:cNvPr>
          <p:cNvSpPr>
            <a:spLocks noGrp="1"/>
          </p:cNvSpPr>
          <p:nvPr>
            <p:ph type="title"/>
          </p:nvPr>
        </p:nvSpPr>
        <p:spPr/>
        <p:txBody>
          <a:bodyPr/>
          <a:lstStyle/>
          <a:p>
            <a:r>
              <a:rPr lang="en-US"/>
              <a:t>The cross-sell opportunity</a:t>
            </a:r>
            <a:endParaRPr lang="en-SG"/>
          </a:p>
        </p:txBody>
      </p:sp>
      <p:sp>
        <p:nvSpPr>
          <p:cNvPr id="6" name="TextBox 5">
            <a:extLst>
              <a:ext uri="{FF2B5EF4-FFF2-40B4-BE49-F238E27FC236}">
                <a16:creationId xmlns:a16="http://schemas.microsoft.com/office/drawing/2014/main" id="{EB0F8F70-620B-FDD0-1958-2F92858D6F18}"/>
              </a:ext>
            </a:extLst>
          </p:cNvPr>
          <p:cNvSpPr txBox="1"/>
          <p:nvPr/>
        </p:nvSpPr>
        <p:spPr>
          <a:xfrm>
            <a:off x="1163463" y="5834786"/>
            <a:ext cx="9865074" cy="795814"/>
          </a:xfrm>
          <a:prstGeom prst="roundRect">
            <a:avLst>
              <a:gd name="adj" fmla="val 13355"/>
            </a:avLst>
          </a:prstGeom>
          <a:solidFill>
            <a:schemeClr val="tx1"/>
          </a:solidFill>
        </p:spPr>
        <p:txBody>
          <a:bodyPr wrap="square" lIns="91440" tIns="45720" rIns="91440" bIns="45720" rtlCol="0" anchor="t">
            <a:spAutoFit/>
          </a:bodyPr>
          <a:lstStyle/>
          <a:p>
            <a:pPr>
              <a:buClr>
                <a:schemeClr val="bg1"/>
              </a:buClr>
            </a:pPr>
            <a:r>
              <a:rPr lang="en-US" sz="1400">
                <a:solidFill>
                  <a:schemeClr val="bg1"/>
                </a:solidFill>
              </a:rPr>
              <a:t>Moving a customer from </a:t>
            </a:r>
            <a:r>
              <a:rPr lang="en-US" sz="1400" b="1">
                <a:solidFill>
                  <a:schemeClr val="accent1"/>
                </a:solidFill>
              </a:rPr>
              <a:t>1 to 3 product categories</a:t>
            </a:r>
            <a:r>
              <a:rPr lang="en-US" sz="1400">
                <a:solidFill>
                  <a:schemeClr val="bg1"/>
                </a:solidFill>
              </a:rPr>
              <a:t>:</a:t>
            </a:r>
          </a:p>
          <a:p>
            <a:pPr marL="285750" indent="-285750">
              <a:buClr>
                <a:schemeClr val="bg1"/>
              </a:buClr>
              <a:buFont typeface="Wingdings" panose="05000000000000000000" pitchFamily="2" charset="2"/>
              <a:buChar char="§"/>
            </a:pPr>
            <a:r>
              <a:rPr lang="en-US" sz="1400">
                <a:solidFill>
                  <a:schemeClr val="bg1"/>
                </a:solidFill>
              </a:rPr>
              <a:t>Raises </a:t>
            </a:r>
            <a:r>
              <a:rPr lang="en-US" sz="1400" b="1">
                <a:solidFill>
                  <a:schemeClr val="accent1"/>
                </a:solidFill>
              </a:rPr>
              <a:t>repeat rate </a:t>
            </a:r>
            <a:r>
              <a:rPr lang="en-US" sz="1400">
                <a:solidFill>
                  <a:schemeClr val="bg1"/>
                </a:solidFill>
              </a:rPr>
              <a:t>from 23.6% → 65.5% (</a:t>
            </a:r>
            <a:r>
              <a:rPr lang="en-US" sz="1400" b="1">
                <a:solidFill>
                  <a:schemeClr val="accent1"/>
                </a:solidFill>
              </a:rPr>
              <a:t>+178%</a:t>
            </a:r>
            <a:r>
              <a:rPr lang="en-US" sz="1400">
                <a:solidFill>
                  <a:schemeClr val="bg1"/>
                </a:solidFill>
              </a:rPr>
              <a:t>)</a:t>
            </a:r>
          </a:p>
          <a:p>
            <a:pPr marL="285750" indent="-285750">
              <a:buClr>
                <a:schemeClr val="bg1"/>
              </a:buClr>
              <a:buFont typeface="Wingdings" panose="05000000000000000000" pitchFamily="2" charset="2"/>
              <a:buChar char="§"/>
            </a:pPr>
            <a:r>
              <a:rPr lang="en-US" sz="1400">
                <a:solidFill>
                  <a:schemeClr val="bg1"/>
                </a:solidFill>
              </a:rPr>
              <a:t>Raises </a:t>
            </a:r>
            <a:r>
              <a:rPr lang="en-US" sz="1400" b="1">
                <a:solidFill>
                  <a:schemeClr val="accent1"/>
                </a:solidFill>
              </a:rPr>
              <a:t>avg LTV </a:t>
            </a:r>
            <a:r>
              <a:rPr lang="en-US" sz="1400">
                <a:solidFill>
                  <a:schemeClr val="bg1"/>
                </a:solidFill>
              </a:rPr>
              <a:t>from S$170 → S$470 (</a:t>
            </a:r>
            <a:r>
              <a:rPr lang="en-US" sz="1400" b="1">
                <a:solidFill>
                  <a:schemeClr val="accent1"/>
                </a:solidFill>
              </a:rPr>
              <a:t>+176%</a:t>
            </a:r>
            <a:r>
              <a:rPr lang="en-US" sz="1400">
                <a:solidFill>
                  <a:schemeClr val="bg1"/>
                </a:solidFill>
              </a:rPr>
              <a:t>)</a:t>
            </a:r>
            <a:endParaRPr lang="en-US" sz="1400">
              <a:solidFill>
                <a:schemeClr val="bg1"/>
              </a:solidFill>
              <a:cs typeface="Arial"/>
            </a:endParaRPr>
          </a:p>
        </p:txBody>
      </p:sp>
      <p:pic>
        <p:nvPicPr>
          <p:cNvPr id="4" name="Picture 3" descr="A graph with numbers and a red line&#10;&#10;AI-generated content may be incorrect.">
            <a:extLst>
              <a:ext uri="{FF2B5EF4-FFF2-40B4-BE49-F238E27FC236}">
                <a16:creationId xmlns:a16="http://schemas.microsoft.com/office/drawing/2014/main" id="{A1593C22-3747-AA87-6B71-620BBD03FF3E}"/>
              </a:ext>
            </a:extLst>
          </p:cNvPr>
          <p:cNvPicPr>
            <a:picLocks noChangeAspect="1"/>
          </p:cNvPicPr>
          <p:nvPr/>
        </p:nvPicPr>
        <p:blipFill>
          <a:blip r:embed="rId4"/>
          <a:stretch>
            <a:fillRect/>
          </a:stretch>
        </p:blipFill>
        <p:spPr>
          <a:xfrm>
            <a:off x="2328828" y="1356732"/>
            <a:ext cx="7552930" cy="4367561"/>
          </a:xfrm>
          <a:prstGeom prst="rect">
            <a:avLst/>
          </a:prstGeom>
        </p:spPr>
      </p:pic>
    </p:spTree>
    <p:extLst>
      <p:ext uri="{BB962C8B-B14F-4D97-AF65-F5344CB8AC3E}">
        <p14:creationId xmlns:p14="http://schemas.microsoft.com/office/powerpoint/2010/main" val="316220022"/>
      </p:ext>
    </p:extLst>
  </p:cSld>
  <p:clrMapOvr>
    <a:masterClrMapping/>
  </p:clrMapOvr>
  <p:extLst>
    <p:ext uri="{6950BFC3-D8DA-4A85-94F7-54DA5524770B}">
      <p188:commentRel xmlns:p188="http://schemas.microsoft.com/office/powerpoint/2018/8/main" r:id="rId3"/>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04D794-6514-CD52-7699-B2E16AC8DE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AEF1C0-D289-AEE9-2812-90AA82CAD2B5}"/>
              </a:ext>
            </a:extLst>
          </p:cNvPr>
          <p:cNvSpPr>
            <a:spLocks noGrp="1"/>
          </p:cNvSpPr>
          <p:nvPr>
            <p:ph type="title"/>
          </p:nvPr>
        </p:nvSpPr>
        <p:spPr/>
        <p:txBody>
          <a:bodyPr/>
          <a:lstStyle/>
          <a:p>
            <a:r>
              <a:rPr lang="en-US"/>
              <a:t>Not all customers are equal</a:t>
            </a:r>
            <a:endParaRPr lang="en-SG"/>
          </a:p>
        </p:txBody>
      </p:sp>
      <p:sp>
        <p:nvSpPr>
          <p:cNvPr id="21" name="TextBox 20">
            <a:extLst>
              <a:ext uri="{FF2B5EF4-FFF2-40B4-BE49-F238E27FC236}">
                <a16:creationId xmlns:a16="http://schemas.microsoft.com/office/drawing/2014/main" id="{F665614E-F209-5E3A-F9F8-BD753C55E950}"/>
              </a:ext>
            </a:extLst>
          </p:cNvPr>
          <p:cNvSpPr txBox="1"/>
          <p:nvPr/>
        </p:nvSpPr>
        <p:spPr>
          <a:xfrm>
            <a:off x="314528" y="5573074"/>
            <a:ext cx="11502666" cy="795814"/>
          </a:xfrm>
          <a:prstGeom prst="roundRect">
            <a:avLst>
              <a:gd name="adj" fmla="val 13355"/>
            </a:avLst>
          </a:prstGeom>
          <a:solidFill>
            <a:schemeClr val="tx1"/>
          </a:solidFill>
        </p:spPr>
        <p:txBody>
          <a:bodyPr wrap="square" lIns="91440" tIns="45720" rIns="91440" bIns="45720" rtlCol="0" anchor="t">
            <a:spAutoFit/>
          </a:bodyPr>
          <a:lstStyle/>
          <a:p>
            <a:pPr marL="285750" indent="-285750">
              <a:buFont typeface="Wingdings" panose="05000000000000000000" pitchFamily="2" charset="2"/>
              <a:buChar char="§"/>
            </a:pPr>
            <a:r>
              <a:rPr lang="en-US" sz="1400">
                <a:solidFill>
                  <a:schemeClr val="bg1"/>
                </a:solidFill>
                <a:ea typeface="+mn-lt"/>
                <a:cs typeface="+mn-lt"/>
              </a:rPr>
              <a:t>We have healthy customer groups – Subscription and Direct/Organic.</a:t>
            </a:r>
          </a:p>
          <a:p>
            <a:pPr marL="285750" indent="-285750">
              <a:buFont typeface="Wingdings" panose="05000000000000000000" pitchFamily="2" charset="2"/>
              <a:buChar char="§"/>
            </a:pPr>
            <a:r>
              <a:rPr lang="en-US" sz="1400">
                <a:solidFill>
                  <a:schemeClr val="bg1"/>
                </a:solidFill>
                <a:ea typeface="+mn-lt"/>
                <a:cs typeface="+mn-lt"/>
              </a:rPr>
              <a:t>Customers via</a:t>
            </a:r>
            <a:r>
              <a:rPr lang="en-US" sz="1400" b="1">
                <a:solidFill>
                  <a:schemeClr val="bg1"/>
                </a:solidFill>
                <a:ea typeface="+mn-lt"/>
                <a:cs typeface="+mn-lt"/>
              </a:rPr>
              <a:t> </a:t>
            </a:r>
            <a:r>
              <a:rPr lang="en-US" sz="1400" b="1">
                <a:solidFill>
                  <a:schemeClr val="accent1"/>
                </a:solidFill>
                <a:ea typeface="+mn-lt"/>
                <a:cs typeface="+mn-lt"/>
              </a:rPr>
              <a:t>Marketplace take 15% out of total customers</a:t>
            </a:r>
            <a:r>
              <a:rPr lang="en-US" sz="1400">
                <a:solidFill>
                  <a:schemeClr val="bg1"/>
                </a:solidFill>
                <a:ea typeface="+mn-lt"/>
                <a:cs typeface="+mn-lt"/>
              </a:rPr>
              <a:t>, but they </a:t>
            </a:r>
            <a:r>
              <a:rPr lang="en-US" sz="1400" b="1">
                <a:solidFill>
                  <a:schemeClr val="accent1"/>
                </a:solidFill>
                <a:ea typeface="+mn-lt"/>
                <a:cs typeface="+mn-lt"/>
              </a:rPr>
              <a:t>underperform on every metric </a:t>
            </a:r>
            <a:r>
              <a:rPr lang="en-US" sz="1400">
                <a:solidFill>
                  <a:schemeClr val="bg1"/>
                </a:solidFill>
                <a:ea typeface="+mn-lt"/>
                <a:cs typeface="+mn-lt"/>
              </a:rPr>
              <a:t>we can measure.</a:t>
            </a:r>
          </a:p>
          <a:p>
            <a:pPr marL="742950" lvl="1" indent="-285750">
              <a:buFont typeface="Wingdings" panose="05000000000000000000" pitchFamily="2" charset="2"/>
              <a:buChar char="§"/>
            </a:pPr>
            <a:r>
              <a:rPr lang="en-US" sz="1400">
                <a:solidFill>
                  <a:schemeClr val="bg1"/>
                </a:solidFill>
                <a:ea typeface="+mn-lt"/>
                <a:cs typeface="+mn-lt"/>
              </a:rPr>
              <a:t>Direct/Organic vs Marketplace: repeat rate(</a:t>
            </a:r>
            <a:r>
              <a:rPr lang="en-US" sz="1400">
                <a:solidFill>
                  <a:schemeClr val="bg1"/>
                </a:solidFill>
              </a:rPr>
              <a:t>x2.3 gap</a:t>
            </a:r>
            <a:r>
              <a:rPr lang="en-US" sz="1400">
                <a:solidFill>
                  <a:schemeClr val="bg1"/>
                </a:solidFill>
                <a:ea typeface="+mn-lt"/>
                <a:cs typeface="+mn-lt"/>
              </a:rPr>
              <a:t>), Avg LTV(x1.7 gap), Avg Orders(x1.3 gap), 0 subscriptions via Marketplace*</a:t>
            </a:r>
          </a:p>
        </p:txBody>
      </p:sp>
      <p:grpSp>
        <p:nvGrpSpPr>
          <p:cNvPr id="9" name="Group 8">
            <a:extLst>
              <a:ext uri="{FF2B5EF4-FFF2-40B4-BE49-F238E27FC236}">
                <a16:creationId xmlns:a16="http://schemas.microsoft.com/office/drawing/2014/main" id="{309F3709-6F63-B193-BB4C-82263C189F6C}"/>
              </a:ext>
            </a:extLst>
          </p:cNvPr>
          <p:cNvGrpSpPr/>
          <p:nvPr/>
        </p:nvGrpSpPr>
        <p:grpSpPr>
          <a:xfrm>
            <a:off x="8770746" y="2167024"/>
            <a:ext cx="645107" cy="1044740"/>
            <a:chOff x="7683347" y="1841800"/>
            <a:chExt cx="719958" cy="1165959"/>
          </a:xfrm>
        </p:grpSpPr>
        <p:sp>
          <p:nvSpPr>
            <p:cNvPr id="32" name="TextBox 31">
              <a:extLst>
                <a:ext uri="{FF2B5EF4-FFF2-40B4-BE49-F238E27FC236}">
                  <a16:creationId xmlns:a16="http://schemas.microsoft.com/office/drawing/2014/main" id="{8AA8FAFA-D275-9E20-9CF5-3116622892BF}"/>
                </a:ext>
              </a:extLst>
            </p:cNvPr>
            <p:cNvSpPr txBox="1"/>
            <p:nvPr/>
          </p:nvSpPr>
          <p:spPr>
            <a:xfrm>
              <a:off x="7683347" y="2431818"/>
              <a:ext cx="719958"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400" b="1">
                  <a:cs typeface="Arial"/>
                </a:rPr>
                <a:t>S$83</a:t>
              </a:r>
              <a:endParaRPr lang="en-US" sz="1400" b="1"/>
            </a:p>
          </p:txBody>
        </p:sp>
        <p:grpSp>
          <p:nvGrpSpPr>
            <p:cNvPr id="37" name="Group 36">
              <a:extLst>
                <a:ext uri="{FF2B5EF4-FFF2-40B4-BE49-F238E27FC236}">
                  <a16:creationId xmlns:a16="http://schemas.microsoft.com/office/drawing/2014/main" id="{77524633-5A39-71F3-03AB-2041D82232AC}"/>
                </a:ext>
              </a:extLst>
            </p:cNvPr>
            <p:cNvGrpSpPr/>
            <p:nvPr/>
          </p:nvGrpSpPr>
          <p:grpSpPr>
            <a:xfrm>
              <a:off x="7720292" y="1841800"/>
              <a:ext cx="236482" cy="601269"/>
              <a:chOff x="7739998" y="1841800"/>
              <a:chExt cx="229913" cy="529011"/>
            </a:xfrm>
          </p:grpSpPr>
          <p:cxnSp>
            <p:nvCxnSpPr>
              <p:cNvPr id="33" name="Straight Arrow Connector 32">
                <a:extLst>
                  <a:ext uri="{FF2B5EF4-FFF2-40B4-BE49-F238E27FC236}">
                    <a16:creationId xmlns:a16="http://schemas.microsoft.com/office/drawing/2014/main" id="{B127F910-1B36-63EE-F1D8-3F36B37EED62}"/>
                  </a:ext>
                </a:extLst>
              </p:cNvPr>
              <p:cNvCxnSpPr/>
              <p:nvPr/>
            </p:nvCxnSpPr>
            <p:spPr>
              <a:xfrm flipV="1">
                <a:off x="7739998" y="1848368"/>
                <a:ext cx="223668" cy="3497"/>
              </a:xfrm>
              <a:prstGeom prst="straightConnector1">
                <a:avLst/>
              </a:prstGeom>
              <a:ln w="12700">
                <a:solidFill>
                  <a:schemeClr val="tx1"/>
                </a:solidFill>
                <a:prstDash val="solid"/>
                <a:headEnd type="arrow"/>
                <a:tailEnd type="none"/>
              </a:ln>
            </p:spPr>
            <p:style>
              <a:lnRef idx="1">
                <a:schemeClr val="accent6"/>
              </a:lnRef>
              <a:fillRef idx="0">
                <a:schemeClr val="accent6"/>
              </a:fillRef>
              <a:effectRef idx="0">
                <a:schemeClr val="accent6"/>
              </a:effectRef>
              <a:fontRef idx="minor">
                <a:schemeClr val="tx1"/>
              </a:fontRef>
            </p:style>
          </p:cxnSp>
          <p:cxnSp>
            <p:nvCxnSpPr>
              <p:cNvPr id="36" name="Straight Arrow Connector 35">
                <a:extLst>
                  <a:ext uri="{FF2B5EF4-FFF2-40B4-BE49-F238E27FC236}">
                    <a16:creationId xmlns:a16="http://schemas.microsoft.com/office/drawing/2014/main" id="{9D2CAE6C-E5E5-3FBE-0B02-8E2EB6A58D48}"/>
                  </a:ext>
                </a:extLst>
              </p:cNvPr>
              <p:cNvCxnSpPr>
                <a:cxnSpLocks/>
              </p:cNvCxnSpPr>
              <p:nvPr/>
            </p:nvCxnSpPr>
            <p:spPr>
              <a:xfrm flipH="1" flipV="1">
                <a:off x="7963667" y="1841800"/>
                <a:ext cx="6244" cy="529011"/>
              </a:xfrm>
              <a:prstGeom prst="straightConnector1">
                <a:avLst/>
              </a:prstGeom>
              <a:ln w="12700">
                <a:solidFill>
                  <a:schemeClr val="tx1"/>
                </a:solidFill>
                <a:prstDash val="solid"/>
              </a:ln>
            </p:spPr>
            <p:style>
              <a:lnRef idx="1">
                <a:schemeClr val="accent6"/>
              </a:lnRef>
              <a:fillRef idx="0">
                <a:schemeClr val="accent6"/>
              </a:fillRef>
              <a:effectRef idx="0">
                <a:schemeClr val="accent6"/>
              </a:effectRef>
              <a:fontRef idx="minor">
                <a:schemeClr val="tx1"/>
              </a:fontRef>
            </p:style>
          </p:cxnSp>
        </p:grpSp>
        <p:cxnSp>
          <p:nvCxnSpPr>
            <p:cNvPr id="42" name="Straight Arrow Connector 41">
              <a:extLst>
                <a:ext uri="{FF2B5EF4-FFF2-40B4-BE49-F238E27FC236}">
                  <a16:creationId xmlns:a16="http://schemas.microsoft.com/office/drawing/2014/main" id="{BF3CF84C-2678-0BCD-DF98-0A4A337D5A21}"/>
                </a:ext>
              </a:extLst>
            </p:cNvPr>
            <p:cNvCxnSpPr>
              <a:cxnSpLocks/>
            </p:cNvCxnSpPr>
            <p:nvPr/>
          </p:nvCxnSpPr>
          <p:spPr>
            <a:xfrm flipV="1">
              <a:off x="7964655" y="2761231"/>
              <a:ext cx="0" cy="246528"/>
            </a:xfrm>
            <a:prstGeom prst="straightConnector1">
              <a:avLst/>
            </a:prstGeom>
            <a:ln w="12700">
              <a:solidFill>
                <a:schemeClr val="tx1"/>
              </a:solidFill>
              <a:prstDash val="solid"/>
              <a:headEnd type="arrow"/>
              <a:tailEnd type="none"/>
            </a:ln>
          </p:spPr>
          <p:style>
            <a:lnRef idx="1">
              <a:schemeClr val="accent6"/>
            </a:lnRef>
            <a:fillRef idx="0">
              <a:schemeClr val="accent6"/>
            </a:fillRef>
            <a:effectRef idx="0">
              <a:schemeClr val="accent6"/>
            </a:effectRef>
            <a:fontRef idx="minor">
              <a:schemeClr val="tx1"/>
            </a:fontRef>
          </p:style>
        </p:cxnSp>
      </p:grpSp>
      <p:sp>
        <p:nvSpPr>
          <p:cNvPr id="6" name="TextBox 5">
            <a:extLst>
              <a:ext uri="{FF2B5EF4-FFF2-40B4-BE49-F238E27FC236}">
                <a16:creationId xmlns:a16="http://schemas.microsoft.com/office/drawing/2014/main" id="{7CF247D9-75BF-5F1D-A8B6-6156EDD60414}"/>
              </a:ext>
            </a:extLst>
          </p:cNvPr>
          <p:cNvSpPr txBox="1"/>
          <p:nvPr/>
        </p:nvSpPr>
        <p:spPr>
          <a:xfrm>
            <a:off x="7840290" y="4043118"/>
            <a:ext cx="2133259" cy="513963"/>
          </a:xfrm>
          <a:prstGeom prst="roundRect">
            <a:avLst>
              <a:gd name="adj" fmla="val 13355"/>
            </a:avLst>
          </a:prstGeom>
          <a:solidFill>
            <a:srgbClr val="292929">
              <a:alpha val="80000"/>
            </a:srgbClr>
          </a:solidFill>
        </p:spPr>
        <p:txBody>
          <a:bodyPr wrap="square" lIns="91440" tIns="45720" rIns="91440" bIns="45720" rtlCol="0" anchor="t">
            <a:spAutoFit/>
          </a:bodyPr>
          <a:lstStyle/>
          <a:p>
            <a:pPr algn="ctr"/>
            <a:r>
              <a:rPr lang="en-US" sz="1100" b="1">
                <a:solidFill>
                  <a:schemeClr val="bg1"/>
                </a:solidFill>
                <a:ea typeface="+mn-lt"/>
                <a:cs typeface="+mn-lt"/>
              </a:rPr>
              <a:t>Total Addressable LTV gap: </a:t>
            </a:r>
            <a:r>
              <a:rPr lang="en-GB" sz="1400" b="1">
                <a:solidFill>
                  <a:schemeClr val="accent1"/>
                </a:solidFill>
              </a:rPr>
              <a:t>S$176,458</a:t>
            </a:r>
            <a:endParaRPr lang="en-US" sz="500">
              <a:solidFill>
                <a:schemeClr val="bg1"/>
              </a:solidFill>
              <a:ea typeface="+mn-lt"/>
              <a:cs typeface="+mn-lt"/>
            </a:endParaRPr>
          </a:p>
        </p:txBody>
      </p:sp>
      <p:grpSp>
        <p:nvGrpSpPr>
          <p:cNvPr id="19" name="Group 18">
            <a:extLst>
              <a:ext uri="{FF2B5EF4-FFF2-40B4-BE49-F238E27FC236}">
                <a16:creationId xmlns:a16="http://schemas.microsoft.com/office/drawing/2014/main" id="{94E4A6C7-AC77-846A-AB1C-EC0E74D8A601}"/>
              </a:ext>
            </a:extLst>
          </p:cNvPr>
          <p:cNvGrpSpPr/>
          <p:nvPr/>
        </p:nvGrpSpPr>
        <p:grpSpPr>
          <a:xfrm>
            <a:off x="221875" y="1310368"/>
            <a:ext cx="11683109" cy="3923656"/>
            <a:chOff x="221875" y="1310368"/>
            <a:chExt cx="11683109" cy="3923656"/>
          </a:xfrm>
        </p:grpSpPr>
        <p:sp>
          <p:nvSpPr>
            <p:cNvPr id="20" name="Rectangle 19">
              <a:extLst>
                <a:ext uri="{FF2B5EF4-FFF2-40B4-BE49-F238E27FC236}">
                  <a16:creationId xmlns:a16="http://schemas.microsoft.com/office/drawing/2014/main" id="{60D2BBD7-CACD-A7B9-F9FC-73F91BF100EC}"/>
                </a:ext>
              </a:extLst>
            </p:cNvPr>
            <p:cNvSpPr/>
            <p:nvPr/>
          </p:nvSpPr>
          <p:spPr>
            <a:xfrm>
              <a:off x="221875" y="1310368"/>
              <a:ext cx="11683109" cy="3923656"/>
            </a:xfrm>
            <a:prstGeom prst="rect">
              <a:avLst/>
            </a:prstGeom>
            <a:solidFill>
              <a:srgbClr val="F8F9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BDBDD335-79A4-8528-40FB-8CCADE54B6D9}"/>
                </a:ext>
              </a:extLst>
            </p:cNvPr>
            <p:cNvPicPr>
              <a:picLocks noChangeAspect="1"/>
            </p:cNvPicPr>
            <p:nvPr/>
          </p:nvPicPr>
          <p:blipFill>
            <a:blip r:embed="rId3"/>
            <a:stretch>
              <a:fillRect/>
            </a:stretch>
          </p:blipFill>
          <p:spPr>
            <a:xfrm>
              <a:off x="315952" y="2040913"/>
              <a:ext cx="6049536" cy="2944927"/>
            </a:xfrm>
            <a:prstGeom prst="rect">
              <a:avLst/>
            </a:prstGeom>
          </p:spPr>
        </p:pic>
      </p:grpSp>
      <p:sp>
        <p:nvSpPr>
          <p:cNvPr id="17" name="TextBox 16">
            <a:extLst>
              <a:ext uri="{FF2B5EF4-FFF2-40B4-BE49-F238E27FC236}">
                <a16:creationId xmlns:a16="http://schemas.microsoft.com/office/drawing/2014/main" id="{ED10E771-0EBF-F28C-994E-55A2FFACDCF8}"/>
              </a:ext>
            </a:extLst>
          </p:cNvPr>
          <p:cNvSpPr txBox="1"/>
          <p:nvPr/>
        </p:nvSpPr>
        <p:spPr>
          <a:xfrm>
            <a:off x="7498080" y="6370320"/>
            <a:ext cx="4399280"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cs typeface="Arial"/>
              </a:rPr>
              <a:t>*Due to the nature of platform, we cannot track the subscription rate</a:t>
            </a:r>
          </a:p>
        </p:txBody>
      </p:sp>
      <p:grpSp>
        <p:nvGrpSpPr>
          <p:cNvPr id="18" name="Group 17">
            <a:extLst>
              <a:ext uri="{FF2B5EF4-FFF2-40B4-BE49-F238E27FC236}">
                <a16:creationId xmlns:a16="http://schemas.microsoft.com/office/drawing/2014/main" id="{66CFEB30-88F9-D394-A55C-84E1829071BF}"/>
              </a:ext>
            </a:extLst>
          </p:cNvPr>
          <p:cNvGrpSpPr/>
          <p:nvPr/>
        </p:nvGrpSpPr>
        <p:grpSpPr>
          <a:xfrm>
            <a:off x="6398098" y="1465119"/>
            <a:ext cx="5546275" cy="3749921"/>
            <a:chOff x="6398098" y="1354283"/>
            <a:chExt cx="5546275" cy="3749921"/>
          </a:xfrm>
        </p:grpSpPr>
        <p:pic>
          <p:nvPicPr>
            <p:cNvPr id="15" name="Picture 14" descr="A screenshot of a graph&#10;&#10;AI-generated content may be incorrect.">
              <a:extLst>
                <a:ext uri="{FF2B5EF4-FFF2-40B4-BE49-F238E27FC236}">
                  <a16:creationId xmlns:a16="http://schemas.microsoft.com/office/drawing/2014/main" id="{B99497F2-5DEA-E6B0-EAD0-60113C741C7E}"/>
                </a:ext>
              </a:extLst>
            </p:cNvPr>
            <p:cNvPicPr>
              <a:picLocks noChangeAspect="1"/>
            </p:cNvPicPr>
            <p:nvPr/>
          </p:nvPicPr>
          <p:blipFill>
            <a:blip r:embed="rId4"/>
            <a:srcRect l="-954" t="9966" r="46847" b="3333"/>
            <a:stretch>
              <a:fillRect/>
            </a:stretch>
          </p:blipFill>
          <p:spPr>
            <a:xfrm>
              <a:off x="6398098" y="1506683"/>
              <a:ext cx="5546275" cy="3597521"/>
            </a:xfrm>
            <a:prstGeom prst="rect">
              <a:avLst/>
            </a:prstGeom>
          </p:spPr>
        </p:pic>
        <p:pic>
          <p:nvPicPr>
            <p:cNvPr id="10" name="Picture 9">
              <a:extLst>
                <a:ext uri="{FF2B5EF4-FFF2-40B4-BE49-F238E27FC236}">
                  <a16:creationId xmlns:a16="http://schemas.microsoft.com/office/drawing/2014/main" id="{1A99F998-499D-A436-1442-D1FBE2529D62}"/>
                </a:ext>
              </a:extLst>
            </p:cNvPr>
            <p:cNvPicPr>
              <a:picLocks noChangeAspect="1"/>
            </p:cNvPicPr>
            <p:nvPr/>
          </p:nvPicPr>
          <p:blipFill>
            <a:blip r:embed="rId5"/>
            <a:srcRect l="9176" t="444" r="47009" b="90667"/>
            <a:stretch>
              <a:fillRect/>
            </a:stretch>
          </p:blipFill>
          <p:spPr>
            <a:xfrm>
              <a:off x="7341527" y="1354283"/>
              <a:ext cx="3753872" cy="305011"/>
            </a:xfrm>
            <a:prstGeom prst="rect">
              <a:avLst/>
            </a:prstGeom>
          </p:spPr>
        </p:pic>
      </p:grpSp>
    </p:spTree>
    <p:extLst>
      <p:ext uri="{BB962C8B-B14F-4D97-AF65-F5344CB8AC3E}">
        <p14:creationId xmlns:p14="http://schemas.microsoft.com/office/powerpoint/2010/main" val="20778826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52409A-94B8-2C9E-4862-54971C8522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8951C3-0C03-1F61-0BD5-5EE06B495328}"/>
              </a:ext>
            </a:extLst>
          </p:cNvPr>
          <p:cNvSpPr>
            <a:spLocks noGrp="1"/>
          </p:cNvSpPr>
          <p:nvPr>
            <p:ph type="title"/>
          </p:nvPr>
        </p:nvSpPr>
        <p:spPr/>
        <p:txBody>
          <a:bodyPr/>
          <a:lstStyle/>
          <a:p>
            <a:r>
              <a:rPr lang="en-US"/>
              <a:t>Next Steps</a:t>
            </a:r>
            <a:endParaRPr lang="en-SG"/>
          </a:p>
        </p:txBody>
      </p:sp>
      <p:graphicFrame>
        <p:nvGraphicFramePr>
          <p:cNvPr id="4" name="Diagram 3">
            <a:extLst>
              <a:ext uri="{FF2B5EF4-FFF2-40B4-BE49-F238E27FC236}">
                <a16:creationId xmlns:a16="http://schemas.microsoft.com/office/drawing/2014/main" id="{23465A8E-DEDB-C398-FF84-10D83E909DE6}"/>
              </a:ext>
            </a:extLst>
          </p:cNvPr>
          <p:cNvGraphicFramePr/>
          <p:nvPr>
            <p:extLst>
              <p:ext uri="{D42A27DB-BD31-4B8C-83A1-F6EECF244321}">
                <p14:modId xmlns:p14="http://schemas.microsoft.com/office/powerpoint/2010/main" val="2398515197"/>
              </p:ext>
            </p:extLst>
          </p:nvPr>
        </p:nvGraphicFramePr>
        <p:xfrm>
          <a:off x="2947587" y="1777525"/>
          <a:ext cx="8406213" cy="6110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7" name="Straight Connector 6">
            <a:extLst>
              <a:ext uri="{FF2B5EF4-FFF2-40B4-BE49-F238E27FC236}">
                <a16:creationId xmlns:a16="http://schemas.microsoft.com/office/drawing/2014/main" id="{DBC5385D-7C65-AEE0-E0DA-394FEE7B19E4}"/>
              </a:ext>
            </a:extLst>
          </p:cNvPr>
          <p:cNvCxnSpPr>
            <a:cxnSpLocks/>
          </p:cNvCxnSpPr>
          <p:nvPr/>
        </p:nvCxnSpPr>
        <p:spPr>
          <a:xfrm>
            <a:off x="5712864" y="2491100"/>
            <a:ext cx="0" cy="3819126"/>
          </a:xfrm>
          <a:prstGeom prst="line">
            <a:avLst/>
          </a:prstGeom>
          <a:ln w="9525">
            <a:solidFill>
              <a:schemeClr val="accent3"/>
            </a:solidFill>
            <a:prstDash val="sysDot"/>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7928DF83-C1CD-646E-45E5-E6ED49AA77FD}"/>
              </a:ext>
            </a:extLst>
          </p:cNvPr>
          <p:cNvCxnSpPr>
            <a:cxnSpLocks/>
          </p:cNvCxnSpPr>
          <p:nvPr/>
        </p:nvCxnSpPr>
        <p:spPr>
          <a:xfrm>
            <a:off x="8360636" y="2491100"/>
            <a:ext cx="0" cy="3819126"/>
          </a:xfrm>
          <a:prstGeom prst="line">
            <a:avLst/>
          </a:prstGeom>
          <a:ln w="9525">
            <a:solidFill>
              <a:schemeClr val="accent3"/>
            </a:solidFill>
            <a:prstDash val="sysDot"/>
          </a:ln>
        </p:spPr>
        <p:style>
          <a:lnRef idx="2">
            <a:schemeClr val="accent1"/>
          </a:lnRef>
          <a:fillRef idx="0">
            <a:schemeClr val="accent1"/>
          </a:fillRef>
          <a:effectRef idx="1">
            <a:schemeClr val="accent1"/>
          </a:effectRef>
          <a:fontRef idx="minor">
            <a:schemeClr val="tx1"/>
          </a:fontRef>
        </p:style>
      </p:cxnSp>
      <p:sp>
        <p:nvSpPr>
          <p:cNvPr id="11" name="Rectangle: Rounded Corners 10">
            <a:extLst>
              <a:ext uri="{FF2B5EF4-FFF2-40B4-BE49-F238E27FC236}">
                <a16:creationId xmlns:a16="http://schemas.microsoft.com/office/drawing/2014/main" id="{F3A90B5D-18A8-3036-B4FD-2678EB0327D8}"/>
              </a:ext>
            </a:extLst>
          </p:cNvPr>
          <p:cNvSpPr/>
          <p:nvPr/>
        </p:nvSpPr>
        <p:spPr>
          <a:xfrm>
            <a:off x="879526" y="2491100"/>
            <a:ext cx="1786761" cy="833504"/>
          </a:xfrm>
          <a:prstGeom prst="roundRect">
            <a:avLst/>
          </a:prstGeom>
          <a:solidFill>
            <a:schemeClr val="bg1">
              <a:lumMod val="95000"/>
            </a:schemeClr>
          </a:solidFill>
          <a:ln w="6350">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solidFill>
                  <a:srgbClr val="111111"/>
                </a:solidFill>
              </a:rPr>
              <a:t>Marketing</a:t>
            </a:r>
            <a:endParaRPr lang="en-SG" sz="1400">
              <a:solidFill>
                <a:srgbClr val="111111"/>
              </a:solidFill>
            </a:endParaRPr>
          </a:p>
        </p:txBody>
      </p:sp>
      <p:sp>
        <p:nvSpPr>
          <p:cNvPr id="15" name="Rectangle: Rounded Corners 14">
            <a:extLst>
              <a:ext uri="{FF2B5EF4-FFF2-40B4-BE49-F238E27FC236}">
                <a16:creationId xmlns:a16="http://schemas.microsoft.com/office/drawing/2014/main" id="{7A6EB5C2-D8EF-0B7D-D464-A713ED0E3B7A}"/>
              </a:ext>
            </a:extLst>
          </p:cNvPr>
          <p:cNvSpPr/>
          <p:nvPr/>
        </p:nvSpPr>
        <p:spPr>
          <a:xfrm>
            <a:off x="879526" y="3486307"/>
            <a:ext cx="1786761" cy="833504"/>
          </a:xfrm>
          <a:prstGeom prst="roundRect">
            <a:avLst/>
          </a:prstGeom>
          <a:solidFill>
            <a:schemeClr val="bg1">
              <a:lumMod val="95000"/>
            </a:schemeClr>
          </a:solidFill>
          <a:ln w="6350">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solidFill>
                  <a:srgbClr val="111111"/>
                </a:solidFill>
              </a:rPr>
              <a:t>Customer retention</a:t>
            </a:r>
            <a:endParaRPr lang="en-SG" sz="1400">
              <a:solidFill>
                <a:srgbClr val="111111"/>
              </a:solidFill>
            </a:endParaRPr>
          </a:p>
        </p:txBody>
      </p:sp>
      <p:sp>
        <p:nvSpPr>
          <p:cNvPr id="16" name="Rectangle: Rounded Corners 15">
            <a:extLst>
              <a:ext uri="{FF2B5EF4-FFF2-40B4-BE49-F238E27FC236}">
                <a16:creationId xmlns:a16="http://schemas.microsoft.com/office/drawing/2014/main" id="{C3548098-7515-E412-3A52-33851EB53799}"/>
              </a:ext>
            </a:extLst>
          </p:cNvPr>
          <p:cNvSpPr/>
          <p:nvPr/>
        </p:nvSpPr>
        <p:spPr>
          <a:xfrm>
            <a:off x="879526" y="4481514"/>
            <a:ext cx="1786761" cy="833504"/>
          </a:xfrm>
          <a:prstGeom prst="roundRect">
            <a:avLst/>
          </a:prstGeom>
          <a:solidFill>
            <a:schemeClr val="bg1">
              <a:lumMod val="95000"/>
            </a:schemeClr>
          </a:solidFill>
          <a:ln w="6350">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solidFill>
                  <a:srgbClr val="111111"/>
                </a:solidFill>
              </a:rPr>
              <a:t>Cross-sell</a:t>
            </a:r>
            <a:endParaRPr lang="en-SG" sz="1400">
              <a:solidFill>
                <a:srgbClr val="111111"/>
              </a:solidFill>
            </a:endParaRPr>
          </a:p>
        </p:txBody>
      </p:sp>
      <p:sp>
        <p:nvSpPr>
          <p:cNvPr id="17" name="Rectangle: Rounded Corners 16">
            <a:extLst>
              <a:ext uri="{FF2B5EF4-FFF2-40B4-BE49-F238E27FC236}">
                <a16:creationId xmlns:a16="http://schemas.microsoft.com/office/drawing/2014/main" id="{50182B2E-393A-3503-9C40-BEE3E8D25DE5}"/>
              </a:ext>
            </a:extLst>
          </p:cNvPr>
          <p:cNvSpPr/>
          <p:nvPr/>
        </p:nvSpPr>
        <p:spPr>
          <a:xfrm>
            <a:off x="879526" y="5476722"/>
            <a:ext cx="1786761" cy="833504"/>
          </a:xfrm>
          <a:prstGeom prst="roundRect">
            <a:avLst/>
          </a:prstGeom>
          <a:solidFill>
            <a:schemeClr val="bg1">
              <a:lumMod val="95000"/>
            </a:schemeClr>
          </a:solidFill>
          <a:ln w="6350">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solidFill>
                  <a:srgbClr val="111111"/>
                </a:solidFill>
              </a:rPr>
              <a:t>Channel</a:t>
            </a:r>
            <a:endParaRPr lang="en-SG" sz="1400">
              <a:solidFill>
                <a:srgbClr val="111111"/>
              </a:solidFill>
            </a:endParaRPr>
          </a:p>
        </p:txBody>
      </p:sp>
      <p:cxnSp>
        <p:nvCxnSpPr>
          <p:cNvPr id="18" name="Straight Connector 17">
            <a:extLst>
              <a:ext uri="{FF2B5EF4-FFF2-40B4-BE49-F238E27FC236}">
                <a16:creationId xmlns:a16="http://schemas.microsoft.com/office/drawing/2014/main" id="{48F8EA64-F55E-9FAC-C4DD-3446CDF72A69}"/>
              </a:ext>
            </a:extLst>
          </p:cNvPr>
          <p:cNvCxnSpPr>
            <a:cxnSpLocks/>
          </p:cNvCxnSpPr>
          <p:nvPr/>
        </p:nvCxnSpPr>
        <p:spPr>
          <a:xfrm>
            <a:off x="3161944" y="3429000"/>
            <a:ext cx="7806583" cy="0"/>
          </a:xfrm>
          <a:prstGeom prst="line">
            <a:avLst/>
          </a:prstGeom>
          <a:ln w="9525">
            <a:solidFill>
              <a:schemeClr val="accent3"/>
            </a:solidFill>
            <a:prstDash val="sysDot"/>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A28CF4C4-AEA8-3462-9F1F-6B954F6F2399}"/>
              </a:ext>
            </a:extLst>
          </p:cNvPr>
          <p:cNvCxnSpPr>
            <a:cxnSpLocks/>
          </p:cNvCxnSpPr>
          <p:nvPr/>
        </p:nvCxnSpPr>
        <p:spPr>
          <a:xfrm>
            <a:off x="3161943" y="4560137"/>
            <a:ext cx="7806583" cy="0"/>
          </a:xfrm>
          <a:prstGeom prst="line">
            <a:avLst/>
          </a:prstGeom>
          <a:ln w="9525">
            <a:solidFill>
              <a:schemeClr val="accent3"/>
            </a:solidFill>
            <a:prstDash val="sysDot"/>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C0B37C5C-CABB-9BDB-449A-54CB04E49A5E}"/>
              </a:ext>
            </a:extLst>
          </p:cNvPr>
          <p:cNvCxnSpPr>
            <a:cxnSpLocks/>
          </p:cNvCxnSpPr>
          <p:nvPr/>
        </p:nvCxnSpPr>
        <p:spPr>
          <a:xfrm>
            <a:off x="3161942" y="5501647"/>
            <a:ext cx="7806583" cy="0"/>
          </a:xfrm>
          <a:prstGeom prst="line">
            <a:avLst/>
          </a:prstGeom>
          <a:ln w="9525">
            <a:solidFill>
              <a:schemeClr val="accent3"/>
            </a:solidFill>
            <a:prstDash val="sysDot"/>
          </a:ln>
        </p:spPr>
        <p:style>
          <a:lnRef idx="2">
            <a:schemeClr val="accent1"/>
          </a:lnRef>
          <a:fillRef idx="0">
            <a:schemeClr val="accent1"/>
          </a:fillRef>
          <a:effectRef idx="1">
            <a:schemeClr val="accent1"/>
          </a:effectRef>
          <a:fontRef idx="minor">
            <a:schemeClr val="tx1"/>
          </a:fontRef>
        </p:style>
      </p:cxnSp>
      <p:sp>
        <p:nvSpPr>
          <p:cNvPr id="27" name="TextBox 26">
            <a:extLst>
              <a:ext uri="{FF2B5EF4-FFF2-40B4-BE49-F238E27FC236}">
                <a16:creationId xmlns:a16="http://schemas.microsoft.com/office/drawing/2014/main" id="{5B280942-F279-2666-70B4-99B637D8A899}"/>
              </a:ext>
            </a:extLst>
          </p:cNvPr>
          <p:cNvSpPr txBox="1"/>
          <p:nvPr/>
        </p:nvSpPr>
        <p:spPr>
          <a:xfrm>
            <a:off x="3161942" y="2707547"/>
            <a:ext cx="2451218" cy="523220"/>
          </a:xfrm>
          <a:prstGeom prst="rect">
            <a:avLst/>
          </a:prstGeom>
          <a:noFill/>
        </p:spPr>
        <p:txBody>
          <a:bodyPr wrap="square" rtlCol="0">
            <a:spAutoFit/>
          </a:bodyPr>
          <a:lstStyle/>
          <a:p>
            <a:r>
              <a:rPr lang="en-US" sz="1400" b="1">
                <a:solidFill>
                  <a:srgbClr val="111111"/>
                </a:solidFill>
              </a:rPr>
              <a:t>Effective discounting strategy</a:t>
            </a:r>
            <a:endParaRPr lang="en-SG" sz="1400" b="1">
              <a:solidFill>
                <a:srgbClr val="111111"/>
              </a:solidFill>
            </a:endParaRPr>
          </a:p>
        </p:txBody>
      </p:sp>
      <p:sp>
        <p:nvSpPr>
          <p:cNvPr id="28" name="TextBox 27">
            <a:extLst>
              <a:ext uri="{FF2B5EF4-FFF2-40B4-BE49-F238E27FC236}">
                <a16:creationId xmlns:a16="http://schemas.microsoft.com/office/drawing/2014/main" id="{3900DA6E-45BE-09B6-7C69-1D434D9EFF46}"/>
              </a:ext>
            </a:extLst>
          </p:cNvPr>
          <p:cNvSpPr txBox="1"/>
          <p:nvPr/>
        </p:nvSpPr>
        <p:spPr>
          <a:xfrm>
            <a:off x="3161942" y="3747835"/>
            <a:ext cx="2451218" cy="523220"/>
          </a:xfrm>
          <a:prstGeom prst="rect">
            <a:avLst/>
          </a:prstGeom>
          <a:noFill/>
        </p:spPr>
        <p:txBody>
          <a:bodyPr wrap="square" rtlCol="0">
            <a:spAutoFit/>
          </a:bodyPr>
          <a:lstStyle/>
          <a:p>
            <a:r>
              <a:rPr lang="en-US" sz="1400" b="1">
                <a:solidFill>
                  <a:srgbClr val="111111"/>
                </a:solidFill>
              </a:rPr>
              <a:t>60% repeat 2</a:t>
            </a:r>
            <a:r>
              <a:rPr lang="en-US" sz="1400" b="1" baseline="30000">
                <a:solidFill>
                  <a:srgbClr val="111111"/>
                </a:solidFill>
              </a:rPr>
              <a:t>nd</a:t>
            </a:r>
            <a:r>
              <a:rPr lang="en-US" sz="1400" b="1">
                <a:solidFill>
                  <a:srgbClr val="111111"/>
                </a:solidFill>
              </a:rPr>
              <a:t> purchase in 60 days</a:t>
            </a:r>
            <a:endParaRPr lang="en-SG" sz="1400" b="1">
              <a:solidFill>
                <a:srgbClr val="111111"/>
              </a:solidFill>
            </a:endParaRPr>
          </a:p>
        </p:txBody>
      </p:sp>
      <p:sp>
        <p:nvSpPr>
          <p:cNvPr id="29" name="TextBox 28">
            <a:extLst>
              <a:ext uri="{FF2B5EF4-FFF2-40B4-BE49-F238E27FC236}">
                <a16:creationId xmlns:a16="http://schemas.microsoft.com/office/drawing/2014/main" id="{AE3EFE4D-945C-676A-A36F-4814FD9337B8}"/>
              </a:ext>
            </a:extLst>
          </p:cNvPr>
          <p:cNvSpPr txBox="1"/>
          <p:nvPr/>
        </p:nvSpPr>
        <p:spPr>
          <a:xfrm>
            <a:off x="3161942" y="4789520"/>
            <a:ext cx="2451218" cy="523220"/>
          </a:xfrm>
          <a:prstGeom prst="rect">
            <a:avLst/>
          </a:prstGeom>
          <a:noFill/>
        </p:spPr>
        <p:txBody>
          <a:bodyPr wrap="square" rtlCol="0">
            <a:spAutoFit/>
          </a:bodyPr>
          <a:lstStyle/>
          <a:p>
            <a:r>
              <a:rPr lang="en-US" sz="1400" b="1">
                <a:solidFill>
                  <a:srgbClr val="111111"/>
                </a:solidFill>
              </a:rPr>
              <a:t>Sole-buyers to cross-cat buyers</a:t>
            </a:r>
            <a:endParaRPr lang="en-SG" sz="1400" b="1">
              <a:solidFill>
                <a:srgbClr val="111111"/>
              </a:solidFill>
            </a:endParaRPr>
          </a:p>
        </p:txBody>
      </p:sp>
      <p:sp>
        <p:nvSpPr>
          <p:cNvPr id="30" name="TextBox 29">
            <a:extLst>
              <a:ext uri="{FF2B5EF4-FFF2-40B4-BE49-F238E27FC236}">
                <a16:creationId xmlns:a16="http://schemas.microsoft.com/office/drawing/2014/main" id="{D417AF32-4B26-D23B-85D5-A2B3B761656C}"/>
              </a:ext>
            </a:extLst>
          </p:cNvPr>
          <p:cNvSpPr txBox="1"/>
          <p:nvPr/>
        </p:nvSpPr>
        <p:spPr>
          <a:xfrm>
            <a:off x="3104972" y="5728588"/>
            <a:ext cx="2451218" cy="523220"/>
          </a:xfrm>
          <a:prstGeom prst="rect">
            <a:avLst/>
          </a:prstGeom>
          <a:noFill/>
        </p:spPr>
        <p:txBody>
          <a:bodyPr wrap="square" rtlCol="0">
            <a:spAutoFit/>
          </a:bodyPr>
          <a:lstStyle/>
          <a:p>
            <a:r>
              <a:rPr lang="en-US" sz="1400" b="1">
                <a:solidFill>
                  <a:srgbClr val="111111"/>
                </a:solidFill>
              </a:rPr>
              <a:t>Marketplace strangers to loyal subscribers</a:t>
            </a:r>
            <a:endParaRPr lang="en-SG" sz="1400" b="1">
              <a:solidFill>
                <a:srgbClr val="111111"/>
              </a:solidFill>
            </a:endParaRPr>
          </a:p>
        </p:txBody>
      </p:sp>
      <p:sp>
        <p:nvSpPr>
          <p:cNvPr id="31" name="TextBox 30">
            <a:extLst>
              <a:ext uri="{FF2B5EF4-FFF2-40B4-BE49-F238E27FC236}">
                <a16:creationId xmlns:a16="http://schemas.microsoft.com/office/drawing/2014/main" id="{6E98E50A-1FB2-F668-4030-DCB0B0F2148C}"/>
              </a:ext>
            </a:extLst>
          </p:cNvPr>
          <p:cNvSpPr txBox="1"/>
          <p:nvPr/>
        </p:nvSpPr>
        <p:spPr>
          <a:xfrm>
            <a:off x="5869538" y="2811456"/>
            <a:ext cx="2330965" cy="307777"/>
          </a:xfrm>
          <a:prstGeom prst="rect">
            <a:avLst/>
          </a:prstGeom>
          <a:noFill/>
        </p:spPr>
        <p:txBody>
          <a:bodyPr wrap="square" lIns="91440" tIns="45720" rIns="91440" bIns="45720" rtlCol="0" anchor="ctr">
            <a:spAutoFit/>
          </a:bodyPr>
          <a:lstStyle/>
          <a:p>
            <a:pPr algn="ctr"/>
            <a:r>
              <a:rPr lang="en-US" sz="1400">
                <a:solidFill>
                  <a:srgbClr val="111111"/>
                </a:solidFill>
              </a:rPr>
              <a:t>KSGD 528</a:t>
            </a:r>
            <a:endParaRPr lang="en-SG" sz="1400">
              <a:solidFill>
                <a:srgbClr val="111111"/>
              </a:solidFill>
            </a:endParaRPr>
          </a:p>
        </p:txBody>
      </p:sp>
      <p:sp>
        <p:nvSpPr>
          <p:cNvPr id="32" name="TextBox 31">
            <a:extLst>
              <a:ext uri="{FF2B5EF4-FFF2-40B4-BE49-F238E27FC236}">
                <a16:creationId xmlns:a16="http://schemas.microsoft.com/office/drawing/2014/main" id="{D5EF6EAA-3B92-DBE6-D533-1D6E72C6BFB5}"/>
              </a:ext>
            </a:extLst>
          </p:cNvPr>
          <p:cNvSpPr txBox="1"/>
          <p:nvPr/>
        </p:nvSpPr>
        <p:spPr>
          <a:xfrm>
            <a:off x="5717138" y="3858672"/>
            <a:ext cx="2652279" cy="307777"/>
          </a:xfrm>
          <a:prstGeom prst="rect">
            <a:avLst/>
          </a:prstGeom>
          <a:noFill/>
        </p:spPr>
        <p:txBody>
          <a:bodyPr wrap="square" lIns="91440" tIns="45720" rIns="91440" bIns="45720" rtlCol="0" anchor="ctr">
            <a:spAutoFit/>
          </a:bodyPr>
          <a:lstStyle/>
          <a:p>
            <a:pPr algn="ctr"/>
            <a:r>
              <a:rPr lang="en-US" sz="1400">
                <a:solidFill>
                  <a:srgbClr val="111111"/>
                </a:solidFill>
              </a:rPr>
              <a:t>KSGD </a:t>
            </a:r>
            <a:r>
              <a:rPr lang="en-US" sz="1400">
                <a:solidFill>
                  <a:srgbClr val="111111"/>
                </a:solidFill>
                <a:ea typeface="+mn-lt"/>
                <a:cs typeface="+mn-lt"/>
              </a:rPr>
              <a:t>219</a:t>
            </a:r>
            <a:endParaRPr lang="en-SG" sz="1400">
              <a:solidFill>
                <a:srgbClr val="111111"/>
              </a:solidFill>
            </a:endParaRPr>
          </a:p>
        </p:txBody>
      </p:sp>
      <p:sp>
        <p:nvSpPr>
          <p:cNvPr id="33" name="TextBox 32">
            <a:extLst>
              <a:ext uri="{FF2B5EF4-FFF2-40B4-BE49-F238E27FC236}">
                <a16:creationId xmlns:a16="http://schemas.microsoft.com/office/drawing/2014/main" id="{61E4F60E-5A8A-E1DE-1B7D-362582289F2C}"/>
              </a:ext>
            </a:extLst>
          </p:cNvPr>
          <p:cNvSpPr txBox="1"/>
          <p:nvPr/>
        </p:nvSpPr>
        <p:spPr>
          <a:xfrm>
            <a:off x="5682501" y="4893429"/>
            <a:ext cx="2726090" cy="307777"/>
          </a:xfrm>
          <a:prstGeom prst="rect">
            <a:avLst/>
          </a:prstGeom>
          <a:noFill/>
        </p:spPr>
        <p:txBody>
          <a:bodyPr wrap="square" lIns="91440" tIns="45720" rIns="91440" bIns="45720" rtlCol="0" anchor="ctr">
            <a:spAutoFit/>
          </a:bodyPr>
          <a:lstStyle/>
          <a:p>
            <a:pPr algn="ctr"/>
            <a:r>
              <a:rPr lang="en-US" sz="1400">
                <a:solidFill>
                  <a:srgbClr val="111111"/>
                </a:solidFill>
              </a:rPr>
              <a:t>KSGD 200 </a:t>
            </a:r>
            <a:endParaRPr lang="en-SG" sz="1400">
              <a:solidFill>
                <a:srgbClr val="111111"/>
              </a:solidFill>
            </a:endParaRPr>
          </a:p>
        </p:txBody>
      </p:sp>
      <p:sp>
        <p:nvSpPr>
          <p:cNvPr id="34" name="TextBox 33">
            <a:extLst>
              <a:ext uri="{FF2B5EF4-FFF2-40B4-BE49-F238E27FC236}">
                <a16:creationId xmlns:a16="http://schemas.microsoft.com/office/drawing/2014/main" id="{35AAD091-074F-45F0-17BB-88A7A7F90546}"/>
              </a:ext>
            </a:extLst>
          </p:cNvPr>
          <p:cNvSpPr txBox="1"/>
          <p:nvPr/>
        </p:nvSpPr>
        <p:spPr>
          <a:xfrm>
            <a:off x="5717138" y="5804787"/>
            <a:ext cx="2647352" cy="307777"/>
          </a:xfrm>
          <a:prstGeom prst="rect">
            <a:avLst/>
          </a:prstGeom>
          <a:noFill/>
        </p:spPr>
        <p:txBody>
          <a:bodyPr wrap="square" lIns="91440" tIns="45720" rIns="91440" bIns="45720" rtlCol="0" anchor="ctr">
            <a:spAutoFit/>
          </a:bodyPr>
          <a:lstStyle/>
          <a:p>
            <a:pPr algn="ctr"/>
            <a:r>
              <a:rPr lang="en-US" sz="1400">
                <a:solidFill>
                  <a:srgbClr val="111111"/>
                </a:solidFill>
                <a:ea typeface="+mn-lt"/>
                <a:cs typeface="+mn-lt"/>
              </a:rPr>
              <a:t>KSGD 176</a:t>
            </a:r>
            <a:endParaRPr lang="en-US">
              <a:solidFill>
                <a:srgbClr val="111111"/>
              </a:solidFill>
            </a:endParaRPr>
          </a:p>
        </p:txBody>
      </p:sp>
      <p:sp>
        <p:nvSpPr>
          <p:cNvPr id="35" name="TextBox 34">
            <a:extLst>
              <a:ext uri="{FF2B5EF4-FFF2-40B4-BE49-F238E27FC236}">
                <a16:creationId xmlns:a16="http://schemas.microsoft.com/office/drawing/2014/main" id="{44A28B77-1D03-0D35-54F6-19564E0136CF}"/>
              </a:ext>
            </a:extLst>
          </p:cNvPr>
          <p:cNvSpPr txBox="1"/>
          <p:nvPr/>
        </p:nvSpPr>
        <p:spPr>
          <a:xfrm>
            <a:off x="8501772" y="4789520"/>
            <a:ext cx="2451218" cy="523220"/>
          </a:xfrm>
          <a:prstGeom prst="rect">
            <a:avLst/>
          </a:prstGeom>
          <a:noFill/>
        </p:spPr>
        <p:txBody>
          <a:bodyPr wrap="square" rtlCol="0">
            <a:spAutoFit/>
          </a:bodyPr>
          <a:lstStyle/>
          <a:p>
            <a:pPr marL="285750" indent="-285750">
              <a:buFont typeface="Wingdings" panose="05000000000000000000" pitchFamily="2" charset="2"/>
              <a:buChar char="§"/>
            </a:pPr>
            <a:r>
              <a:rPr lang="en-US" sz="1400">
                <a:solidFill>
                  <a:srgbClr val="111111"/>
                </a:solidFill>
              </a:rPr>
              <a:t>Cross-sell strategy</a:t>
            </a:r>
          </a:p>
          <a:p>
            <a:pPr marL="285750" indent="-285750">
              <a:buFont typeface="Wingdings" panose="05000000000000000000" pitchFamily="2" charset="2"/>
              <a:buChar char="§"/>
            </a:pPr>
            <a:r>
              <a:rPr lang="en-US" sz="1400">
                <a:solidFill>
                  <a:srgbClr val="111111"/>
                </a:solidFill>
              </a:rPr>
              <a:t>Product recommender</a:t>
            </a:r>
            <a:endParaRPr lang="en-SG" sz="1400">
              <a:solidFill>
                <a:srgbClr val="111111"/>
              </a:solidFill>
            </a:endParaRPr>
          </a:p>
        </p:txBody>
      </p:sp>
      <p:sp>
        <p:nvSpPr>
          <p:cNvPr id="3" name="TextBox 2">
            <a:extLst>
              <a:ext uri="{FF2B5EF4-FFF2-40B4-BE49-F238E27FC236}">
                <a16:creationId xmlns:a16="http://schemas.microsoft.com/office/drawing/2014/main" id="{4B7BA385-8F3B-44B4-EDCF-AAE6D4E920C7}"/>
              </a:ext>
            </a:extLst>
          </p:cNvPr>
          <p:cNvSpPr txBox="1"/>
          <p:nvPr/>
        </p:nvSpPr>
        <p:spPr>
          <a:xfrm>
            <a:off x="8501772" y="2596711"/>
            <a:ext cx="2592590" cy="738664"/>
          </a:xfrm>
          <a:prstGeom prst="rect">
            <a:avLst/>
          </a:prstGeom>
          <a:noFill/>
        </p:spPr>
        <p:txBody>
          <a:bodyPr wrap="square" rtlCol="0">
            <a:spAutoFit/>
          </a:bodyPr>
          <a:lstStyle/>
          <a:p>
            <a:pPr marL="285750" indent="-285750">
              <a:buFont typeface="Wingdings" panose="05000000000000000000" pitchFamily="2" charset="2"/>
              <a:buChar char="§"/>
            </a:pPr>
            <a:r>
              <a:rPr lang="en-US" sz="1400">
                <a:solidFill>
                  <a:srgbClr val="111111"/>
                </a:solidFill>
              </a:rPr>
              <a:t>Reduce structural discounting </a:t>
            </a:r>
          </a:p>
          <a:p>
            <a:pPr marL="285750" indent="-285750">
              <a:buFont typeface="Wingdings" panose="05000000000000000000" pitchFamily="2" charset="2"/>
              <a:buChar char="§"/>
            </a:pPr>
            <a:r>
              <a:rPr lang="en-US" sz="1400">
                <a:solidFill>
                  <a:srgbClr val="111111"/>
                </a:solidFill>
              </a:rPr>
              <a:t>Rebuild full-price demand</a:t>
            </a:r>
            <a:endParaRPr lang="en-SG" sz="1400">
              <a:solidFill>
                <a:srgbClr val="111111"/>
              </a:solidFill>
            </a:endParaRPr>
          </a:p>
        </p:txBody>
      </p:sp>
      <p:sp>
        <p:nvSpPr>
          <p:cNvPr id="12" name="TextBox 11">
            <a:extLst>
              <a:ext uri="{FF2B5EF4-FFF2-40B4-BE49-F238E27FC236}">
                <a16:creationId xmlns:a16="http://schemas.microsoft.com/office/drawing/2014/main" id="{8C8AE947-3135-1B54-1D53-33133C1CE638}"/>
              </a:ext>
            </a:extLst>
          </p:cNvPr>
          <p:cNvSpPr txBox="1"/>
          <p:nvPr/>
        </p:nvSpPr>
        <p:spPr>
          <a:xfrm>
            <a:off x="8501772" y="3533090"/>
            <a:ext cx="3352730" cy="954107"/>
          </a:xfrm>
          <a:prstGeom prst="rect">
            <a:avLst/>
          </a:prstGeom>
          <a:noFill/>
        </p:spPr>
        <p:txBody>
          <a:bodyPr wrap="square" lIns="91440" tIns="45720" rIns="91440" bIns="45720" rtlCol="0" anchor="t">
            <a:spAutoFit/>
          </a:bodyPr>
          <a:lstStyle/>
          <a:p>
            <a:pPr marL="285750" indent="-285750">
              <a:buFont typeface="Wingdings" panose="05000000000000000000" pitchFamily="2" charset="2"/>
              <a:buChar char="§"/>
            </a:pPr>
            <a:r>
              <a:rPr lang="en-US" sz="1400">
                <a:solidFill>
                  <a:srgbClr val="111111"/>
                </a:solidFill>
                <a:cs typeface="Arial"/>
              </a:rPr>
              <a:t>Post-purchase email flow (Day 7/30/45)</a:t>
            </a:r>
          </a:p>
          <a:p>
            <a:pPr marL="285750" indent="-285750">
              <a:buFont typeface="Wingdings" panose="05000000000000000000" pitchFamily="2" charset="2"/>
              <a:buChar char="§"/>
            </a:pPr>
            <a:r>
              <a:rPr lang="en-US" sz="1400">
                <a:solidFill>
                  <a:srgbClr val="111111"/>
                </a:solidFill>
                <a:cs typeface="Arial"/>
              </a:rPr>
              <a:t>Win-back campaign at Day 55 before cliff</a:t>
            </a:r>
          </a:p>
        </p:txBody>
      </p:sp>
      <p:sp>
        <p:nvSpPr>
          <p:cNvPr id="5" name="TextBox 4">
            <a:extLst>
              <a:ext uri="{FF2B5EF4-FFF2-40B4-BE49-F238E27FC236}">
                <a16:creationId xmlns:a16="http://schemas.microsoft.com/office/drawing/2014/main" id="{EE89C4B3-1F6E-E80C-287F-257343622A63}"/>
              </a:ext>
            </a:extLst>
          </p:cNvPr>
          <p:cNvSpPr txBox="1"/>
          <p:nvPr/>
        </p:nvSpPr>
        <p:spPr>
          <a:xfrm>
            <a:off x="8501772" y="5562333"/>
            <a:ext cx="3073827" cy="954107"/>
          </a:xfrm>
          <a:prstGeom prst="rect">
            <a:avLst/>
          </a:prstGeom>
          <a:noFill/>
        </p:spPr>
        <p:txBody>
          <a:bodyPr wrap="square" lIns="91440" tIns="45720" rIns="91440" bIns="45720" rtlCol="0" anchor="t">
            <a:spAutoFit/>
          </a:bodyPr>
          <a:lstStyle/>
          <a:p>
            <a:pPr marL="285750" indent="-285750">
              <a:buFont typeface="Wingdings" panose="05000000000000000000" pitchFamily="2" charset="2"/>
              <a:buChar char="§"/>
            </a:pPr>
            <a:r>
              <a:rPr lang="en-US" sz="1400">
                <a:solidFill>
                  <a:srgbClr val="111111"/>
                </a:solidFill>
                <a:ea typeface="+mn-lt"/>
                <a:cs typeface="+mn-lt"/>
              </a:rPr>
              <a:t>Redirect budget to brand-keyword retargeting</a:t>
            </a:r>
          </a:p>
          <a:p>
            <a:pPr marL="285750" indent="-285750">
              <a:buFont typeface="Wingdings" panose="05000000000000000000" pitchFamily="2" charset="2"/>
              <a:buChar char="§"/>
            </a:pPr>
            <a:r>
              <a:rPr lang="en-US" sz="1400">
                <a:solidFill>
                  <a:srgbClr val="111111"/>
                </a:solidFill>
                <a:ea typeface="+mn-lt"/>
                <a:cs typeface="+mn-lt"/>
              </a:rPr>
              <a:t>Cap paid promotion spend on Marketplace</a:t>
            </a:r>
            <a:endParaRPr lang="en-SG" sz="1400">
              <a:solidFill>
                <a:srgbClr val="111111"/>
              </a:solidFill>
              <a:cs typeface="Arial"/>
            </a:endParaRPr>
          </a:p>
        </p:txBody>
      </p:sp>
    </p:spTree>
    <p:extLst>
      <p:ext uri="{BB962C8B-B14F-4D97-AF65-F5344CB8AC3E}">
        <p14:creationId xmlns:p14="http://schemas.microsoft.com/office/powerpoint/2010/main" val="7397817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FC83A7-CCB1-2CB0-4ECC-832622AE1788}"/>
              </a:ext>
            </a:extLst>
          </p:cNvPr>
          <p:cNvSpPr>
            <a:spLocks noGrp="1"/>
          </p:cNvSpPr>
          <p:nvPr>
            <p:ph type="title"/>
          </p:nvPr>
        </p:nvSpPr>
        <p:spPr/>
        <p:txBody>
          <a:bodyPr/>
          <a:lstStyle/>
          <a:p>
            <a:r>
              <a:rPr lang="en-US"/>
              <a:t>Thank you</a:t>
            </a:r>
            <a:endParaRPr lang="en-SG"/>
          </a:p>
        </p:txBody>
      </p:sp>
      <p:sp>
        <p:nvSpPr>
          <p:cNvPr id="3" name="Text Placeholder 2">
            <a:extLst>
              <a:ext uri="{FF2B5EF4-FFF2-40B4-BE49-F238E27FC236}">
                <a16:creationId xmlns:a16="http://schemas.microsoft.com/office/drawing/2014/main" id="{D502F45D-60AB-5502-A2FC-50058C932FC1}"/>
              </a:ext>
            </a:extLst>
          </p:cNvPr>
          <p:cNvSpPr>
            <a:spLocks noGrp="1"/>
          </p:cNvSpPr>
          <p:nvPr>
            <p:ph type="body" sz="quarter" idx="12"/>
          </p:nvPr>
        </p:nvSpPr>
        <p:spPr/>
        <p:txBody>
          <a:bodyPr/>
          <a:lstStyle/>
          <a:p>
            <a:r>
              <a:rPr lang="en-US"/>
              <a:t>Questions?</a:t>
            </a:r>
            <a:endParaRPr lang="en-SG"/>
          </a:p>
        </p:txBody>
      </p:sp>
    </p:spTree>
    <p:extLst>
      <p:ext uri="{BB962C8B-B14F-4D97-AF65-F5344CB8AC3E}">
        <p14:creationId xmlns:p14="http://schemas.microsoft.com/office/powerpoint/2010/main" val="3889587236"/>
      </p:ext>
    </p:extLst>
  </p:cSld>
  <p:clrMapOvr>
    <a:masterClrMapping/>
  </p:clrMapOvr>
</p:sld>
</file>

<file path=ppt/theme/theme1.xml><?xml version="1.0" encoding="utf-8"?>
<a:theme xmlns:a="http://schemas.openxmlformats.org/drawingml/2006/main" name="Office Theme">
  <a:themeElements>
    <a:clrScheme name="Custom 3">
      <a:dk1>
        <a:srgbClr val="111111"/>
      </a:dk1>
      <a:lt1>
        <a:sysClr val="window" lastClr="FFFFFF"/>
      </a:lt1>
      <a:dk2>
        <a:srgbClr val="444444"/>
      </a:dk2>
      <a:lt2>
        <a:srgbClr val="F7F7F5"/>
      </a:lt2>
      <a:accent1>
        <a:srgbClr val="18C28A"/>
      </a:accent1>
      <a:accent2>
        <a:srgbClr val="666666"/>
      </a:accent2>
      <a:accent3>
        <a:srgbClr val="A0A0A0"/>
      </a:accent3>
      <a:accent4>
        <a:srgbClr val="142B6F"/>
      </a:accent4>
      <a:accent5>
        <a:srgbClr val="B89B5E"/>
      </a:accent5>
      <a:accent6>
        <a:srgbClr val="0B153D"/>
      </a:accent6>
      <a:hlink>
        <a:srgbClr val="18C28A"/>
      </a:hlink>
      <a:folHlink>
        <a:srgbClr val="0E8B63"/>
      </a:folHlink>
    </a:clrScheme>
    <a:fontScheme name="Lush Protein">
      <a:majorFont>
        <a:latin typeface="Arial Nov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LushProtein PPT template.potx" id="{CB0C0901-F728-45B9-844F-D03B7DC2FB3B}" vid="{F0E1DC23-BFBE-43B4-A8BA-107C1F3AAB7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264AC8B1299B254A8A1FA1201DC32E23" ma:contentTypeVersion="3" ma:contentTypeDescription="Create a new document." ma:contentTypeScope="" ma:versionID="c8647eb6c6c68f71f9581bab237cacf9">
  <xsd:schema xmlns:xsd="http://www.w3.org/2001/XMLSchema" xmlns:xs="http://www.w3.org/2001/XMLSchema" xmlns:p="http://schemas.microsoft.com/office/2006/metadata/properties" xmlns:ns2="f84aca20-3251-47cc-9b82-3b726657fa2e" targetNamespace="http://schemas.microsoft.com/office/2006/metadata/properties" ma:root="true" ma:fieldsID="96a26f116f6135ef76bd4a180469ced9" ns2:_="">
    <xsd:import namespace="f84aca20-3251-47cc-9b82-3b726657fa2e"/>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84aca20-3251-47cc-9b82-3b726657fa2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2E83957-4A9A-4CD5-9959-B80F94AC7091}">
  <ds:schemaRefs>
    <ds:schemaRef ds:uri="f84aca20-3251-47cc-9b82-3b726657fa2e"/>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322369D1-19D3-4A63-A5AC-717C5261A92F}">
  <ds:schemaRefs>
    <ds:schemaRef ds:uri="http://schemas.microsoft.com/sharepoint/v3/contenttype/forms"/>
  </ds:schemaRefs>
</ds:datastoreItem>
</file>

<file path=customXml/itemProps3.xml><?xml version="1.0" encoding="utf-8"?>
<ds:datastoreItem xmlns:ds="http://schemas.openxmlformats.org/officeDocument/2006/customXml" ds:itemID="{2EB447FB-CB06-4B46-A149-D868C0DE5DE1}">
  <ds:schemaRefs>
    <ds:schemaRef ds:uri="f84aca20-3251-47cc-9b82-3b726657fa2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LushProtein PPT template</Template>
  <Application>Microsoft Office PowerPoint</Application>
  <PresentationFormat>Widescreen</PresentationFormat>
  <Slides>12</Slides>
  <Notes>8</Notes>
  <HiddenSlides>0</HiddenSlide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Theme</vt:lpstr>
      <vt:lpstr>Building Customer Loyalty After the First Purchase</vt:lpstr>
      <vt:lpstr>Project Overview</vt:lpstr>
      <vt:lpstr>Business at a Glance</vt:lpstr>
      <vt:lpstr>Deep discounting destroys cohort quality</vt:lpstr>
      <vt:lpstr>Deep discount destroys loyalty?</vt:lpstr>
      <vt:lpstr>Time to second purchase</vt:lpstr>
      <vt:lpstr>What happens after the first order?</vt:lpstr>
      <vt:lpstr>The retention opportunity</vt:lpstr>
      <vt:lpstr>The cross-sell opportunity</vt:lpstr>
      <vt:lpstr>Not all customers are equal</vt:lpstr>
      <vt:lpstr>Next Steps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Emily Pham</dc:creator>
  <cp:revision>872</cp:revision>
  <dcterms:created xsi:type="dcterms:W3CDTF">2026-05-16T02:55:12Z</dcterms:created>
  <dcterms:modified xsi:type="dcterms:W3CDTF">2026-05-22T07:42:05Z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0x010100264AC8B1299B254A8A1FA1201DC32E23</vt:lpwstr>
  </property>
</Properties>
</file>